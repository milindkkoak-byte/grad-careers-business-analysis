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9"/>
  </p:notesMasterIdLst>
  <p:sldIdLst>
    <p:sldId id="256" r:id="rId2"/>
    <p:sldId id="257" r:id="rId3"/>
    <p:sldId id="258" r:id="rId4"/>
    <p:sldId id="259" r:id="rId5"/>
    <p:sldId id="260" r:id="rId6"/>
    <p:sldId id="261" r:id="rId7"/>
    <p:sldId id="262" r:id="rId8"/>
  </p:sldIdLst>
  <p:sldSz cx="12192000" cy="6858000"/>
  <p:notesSz cx="6858000" cy="12192000"/>
  <p:embeddedFontLst>
    <p:embeddedFont>
      <p:font typeface="Archivo Narrow" pitchFamily="2" charset="77"/>
      <p:regular r:id="rId10"/>
    </p:embeddedFont>
    <p:embeddedFont>
      <p:font typeface="Arimo" panose="020B0604020202020204" pitchFamily="34" charset="0"/>
      <p:regular r:id="rId11"/>
    </p:embeddedFont>
    <p:embeddedFont>
      <p:font typeface="Arimo Bold" panose="020B0604020202020204" pitchFamily="34" charset="0"/>
      <p:regular r:id="rId12"/>
      <p:bold r:id="rId13"/>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604"/>
    <p:restoredTop sz="94610"/>
  </p:normalViewPr>
  <p:slideViewPr>
    <p:cSldViewPr snapToGrid="0" snapToObjects="1">
      <p:cViewPr varScale="1">
        <p:scale>
          <a:sx n="147" d="100"/>
          <a:sy n="147" d="100"/>
        </p:scale>
        <p:origin x="224" y="42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4.fntdata"/><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3.fntdata"/><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2.fntdata"/><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font" Target="fonts/font1.fntdata"/><Relationship Id="rId4" Type="http://schemas.openxmlformats.org/officeDocument/2006/relationships/slide" Target="slides/slide3.xml"/><Relationship Id="rId9" Type="http://schemas.openxmlformats.org/officeDocument/2006/relationships/notesMaster" Target="notesMasters/notesMaster1.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543791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 the primary recommendation directly: approve a limited, strictly evaluated extension while deferring any broader rollout. Walk through the 11 percentage point observed lifts, the AUD727 cost-effectiveness benchmark, and emphasize the explicit caveat around selecting low-performing historical programs.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Clarify the core operational goal: Grad Careers wants to improve workshop completion and participant outcomes. Emphasize that completion and outcomes are distinct measures, and confirm the precise outcome definition and measurement window. The brief describes an employment outcome, but the dataset contains only OutcomeAchieved.</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Review the pilot structure and the data checks. Each group has 20 programs, 1,000 participants and 50 participants per program. Equal sizes do not establish baseline comparability.
Method caveat: participants share their program, so they are not independent. Program IDs do not establish matched pairs. The assignment method is unconfirmed, and randomisation is not documented.
Data checks found no duplicate participant IDs, missing source values, or inconsistencies between group and recorded mentor status.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core performance findings: completion moved from 58% to 69% (+19.0% relative lift), and recorded outcomes moved from 44% to 55% (+25.0% relative lift). Stress the critical governance rule: do not add the 110 completions and 110 outcomes together, as the participants substantially overlap.</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 the participant-level chi-squared tests and the program-level two-sided Welch t-tests as two separate methods. Both show statistically significant differences.
Exact program-level p-values: completion p = 0.000004204; outcome p = 0.000008173. Both are below 0.001 in the summary above.
Method caveats: the participant-level chi-squared tests assume independent participants. The program-level Welch t-tests assume independent programs, using 20 program rates per group (40 clusters in total).
Program ranges overlap, so individual programs vary. Significance does not establish causation or financial value. Assignment and baseline comparability require confirmation, and clarify participant mix and trainer differences.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Method: total mentoring expenditure of AUD80,000 (AUD4,000 per program × 20 mentor programs) divided by 110 additional completions gives AUD727.27 per additional completion. The same AUD80,000 divided by 110 additional outcomes gives AUD727.27 per additional outcome. These are cost-effectiveness measures only, not ROI, profit, or a payment to mentors or participants.
Unverified: the full cost breakdown, including whether central overheads and recruitment costs sit within the AUD4,000 per-program figure. The incremental renewal contribution is also unverified. Any renewal benefit is a potential benefit and needs evidence before it is claimed.</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Conclude with the clear governance roadmap. Each owner has a clear prerequisite, from program diagnosis and randomised controls to funder cost agreements. Reiterate the off-ramp: pause the program immediately if costs exceed limits or quality slips.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bg>
      <p:bgPr>
        <a:solidFill>
          <a:srgbClr val="FFFFFF"/>
        </a:solidFill>
        <a:effectLst/>
      </p:bgPr>
    </p:bg>
    <p:spTree>
      <p:nvGrpSpPr>
        <p:cNvPr id="1" name=""/>
        <p:cNvGrpSpPr/>
        <p:nvPr/>
      </p:nvGrpSpPr>
      <p:grpSpPr>
        <a:xfrm>
          <a:off x="0" y="0"/>
          <a:ext cx="0" cy="0"/>
          <a:chOff x="0" y="0"/>
          <a:chExt cx="0" cy="0"/>
        </a:xfrm>
      </p:grpSpPr>
      <p:pic>
        <p:nvPicPr>
          <p:cNvPr id="2" name="Image 0" descr="preencoded.png">
            <a:hlinkClick r:id="rId2"/>
          </p:cNvPr>
          <p:cNvPicPr>
            <a:picLocks noChangeAspect="1"/>
          </p:cNvPicPr>
          <p:nvPr/>
        </p:nvPicPr>
        <p:blipFill>
          <a:blip r:embed="rId3"/>
          <a:stretch>
            <a:fillRect/>
          </a:stretch>
        </p:blipFill>
        <p:spPr>
          <a:xfrm>
            <a:off x="11076875" y="65589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1071662"/>
            <a:ext cx="12191695" cy="6350"/>
          </a:xfrm>
          <a:prstGeom prst="rect">
            <a:avLst/>
          </a:prstGeom>
          <a:solidFill>
            <a:srgbClr val="D5DAE0"/>
          </a:solidFill>
          <a:ln/>
        </p:spPr>
        <p:txBody>
          <a:bodyPr/>
          <a:lstStyle/>
          <a:p>
            <a:endParaRPr lang="en-US"/>
          </a:p>
        </p:txBody>
      </p:sp>
      <p:sp>
        <p:nvSpPr>
          <p:cNvPr id="3" name="Text 1"/>
          <p:cNvSpPr/>
          <p:nvPr/>
        </p:nvSpPr>
        <p:spPr>
          <a:xfrm>
            <a:off x="507987" y="355600"/>
            <a:ext cx="11683708" cy="142379"/>
          </a:xfrm>
          <a:prstGeom prst="rect">
            <a:avLst/>
          </a:prstGeom>
          <a:noFill/>
          <a:ln/>
        </p:spPr>
        <p:txBody>
          <a:bodyPr wrap="none" lIns="0" tIns="0" rIns="0" bIns="0" rtlCol="0" anchor="t"/>
          <a:lstStyle/>
          <a:p>
            <a:pPr marL="0" indent="0" algn="l">
              <a:lnSpc>
                <a:spcPct val="100000"/>
              </a:lnSpc>
              <a:buNone/>
            </a:pPr>
            <a:r>
              <a:rPr lang="en-US" sz="950" b="1" kern="100" spc="75" dirty="0">
                <a:solidFill>
                  <a:srgbClr val="5B6573"/>
                </a:solidFill>
                <a:latin typeface="Arimo Bold" pitchFamily="34" charset="0"/>
                <a:ea typeface="Arimo Bold" pitchFamily="34" charset="-122"/>
                <a:cs typeface="Arimo Bold" pitchFamily="34" charset="-120"/>
              </a:rPr>
              <a:t>GRAD CAREERS — EMPLOYER MENTOR PILOT EVALUATION</a:t>
            </a:r>
            <a:endParaRPr lang="en-US" sz="950" dirty="0"/>
          </a:p>
        </p:txBody>
      </p:sp>
      <p:sp>
        <p:nvSpPr>
          <p:cNvPr id="4" name="Text 2"/>
          <p:cNvSpPr/>
          <p:nvPr/>
        </p:nvSpPr>
        <p:spPr>
          <a:xfrm>
            <a:off x="507987" y="558286"/>
            <a:ext cx="11175720" cy="391517"/>
          </a:xfrm>
          <a:prstGeom prst="rect">
            <a:avLst/>
          </a:prstGeom>
          <a:noFill/>
          <a:ln/>
        </p:spPr>
        <p:txBody>
          <a:bodyPr wrap="none" lIns="0" tIns="0" rIns="0" bIns="0" rtlCol="0" anchor="t"/>
          <a:lstStyle/>
          <a:p>
            <a:pPr marL="0" indent="0" algn="l">
              <a:lnSpc>
                <a:spcPct val="93000"/>
              </a:lnSpc>
              <a:buNone/>
            </a:pPr>
            <a:r>
              <a:rPr lang="en-US" sz="2750" b="1" kern="100" spc="-14" dirty="0">
                <a:solidFill>
                  <a:srgbClr val="0B1F3A"/>
                </a:solidFill>
                <a:latin typeface="Arimo Bold" pitchFamily="34" charset="0"/>
                <a:ea typeface="Arimo Bold" pitchFamily="34" charset="-122"/>
                <a:cs typeface="Arimo Bold" pitchFamily="34" charset="-120"/>
              </a:rPr>
              <a:t>Recommendation: approve a limited, evaluated extension</a:t>
            </a:r>
            <a:endParaRPr lang="en-US" sz="2750" dirty="0"/>
          </a:p>
        </p:txBody>
      </p:sp>
      <p:sp>
        <p:nvSpPr>
          <p:cNvPr id="5" name="Shape 3"/>
          <p:cNvSpPr/>
          <p:nvPr/>
        </p:nvSpPr>
        <p:spPr>
          <a:xfrm>
            <a:off x="507987" y="1281212"/>
            <a:ext cx="11175720" cy="1862435"/>
          </a:xfrm>
          <a:prstGeom prst="rect">
            <a:avLst/>
          </a:prstGeom>
          <a:solidFill>
            <a:srgbClr val="0B1F3A"/>
          </a:solidFill>
          <a:ln/>
        </p:spPr>
        <p:txBody>
          <a:bodyPr/>
          <a:lstStyle/>
          <a:p>
            <a:endParaRPr lang="en-US"/>
          </a:p>
        </p:txBody>
      </p:sp>
      <p:sp>
        <p:nvSpPr>
          <p:cNvPr id="6" name="Text 4"/>
          <p:cNvSpPr/>
          <p:nvPr/>
        </p:nvSpPr>
        <p:spPr>
          <a:xfrm>
            <a:off x="812780" y="1484412"/>
            <a:ext cx="10870928" cy="142379"/>
          </a:xfrm>
          <a:prstGeom prst="rect">
            <a:avLst/>
          </a:prstGeom>
          <a:noFill/>
          <a:ln/>
        </p:spPr>
        <p:txBody>
          <a:bodyPr wrap="none" lIns="0" tIns="0" rIns="0" bIns="0" rtlCol="0" anchor="t"/>
          <a:lstStyle/>
          <a:p>
            <a:pPr marL="0" indent="0" algn="l">
              <a:lnSpc>
                <a:spcPct val="100000"/>
              </a:lnSpc>
              <a:buNone/>
            </a:pPr>
            <a:r>
              <a:rPr lang="en-US" sz="950" b="1" kern="100" spc="93" dirty="0">
                <a:solidFill>
                  <a:srgbClr val="FFFFFF"/>
                </a:solidFill>
                <a:latin typeface="Arimo Bold" pitchFamily="34" charset="0"/>
                <a:ea typeface="Arimo Bold" pitchFamily="34" charset="-122"/>
                <a:cs typeface="Arimo Bold" pitchFamily="34" charset="-120"/>
              </a:rPr>
              <a:t>DECISION BOTTOM LINE</a:t>
            </a:r>
            <a:endParaRPr lang="en-US" sz="950" dirty="0"/>
          </a:p>
        </p:txBody>
      </p:sp>
      <p:sp>
        <p:nvSpPr>
          <p:cNvPr id="7" name="Text 5"/>
          <p:cNvSpPr/>
          <p:nvPr/>
        </p:nvSpPr>
        <p:spPr>
          <a:xfrm>
            <a:off x="812780" y="1702116"/>
            <a:ext cx="10566136" cy="1258491"/>
          </a:xfrm>
          <a:prstGeom prst="rect">
            <a:avLst/>
          </a:prstGeom>
          <a:noFill/>
          <a:ln/>
        </p:spPr>
        <p:txBody>
          <a:bodyPr wrap="square" lIns="0" tIns="0" rIns="0" bIns="0" rtlCol="0" anchor="t">
            <a:normAutofit lnSpcReduction="10000"/>
          </a:bodyPr>
          <a:lstStyle/>
          <a:p>
            <a:pPr marL="0" indent="0" algn="l">
              <a:lnSpc>
                <a:spcPct val="88000"/>
              </a:lnSpc>
              <a:buNone/>
            </a:pPr>
            <a:r>
              <a:rPr lang="en-US" sz="3150" b="1" kern="100" spc="-31" dirty="0">
                <a:solidFill>
                  <a:srgbClr val="FFFFFF"/>
                </a:solidFill>
                <a:latin typeface="Arimo Bold" pitchFamily="34" charset="0"/>
                <a:ea typeface="Arimo Bold" pitchFamily="34" charset="-122"/>
                <a:cs typeface="Arimo Bold" pitchFamily="34" charset="-120"/>
              </a:rPr>
              <a:t>Approve a limited, evaluated extension, subject to an approved budget and agreed success criteria. Defer full rollout.</a:t>
            </a:r>
            <a:endParaRPr lang="en-US" sz="3150" dirty="0"/>
          </a:p>
        </p:txBody>
      </p:sp>
      <p:sp>
        <p:nvSpPr>
          <p:cNvPr id="8" name="Text 6"/>
          <p:cNvSpPr/>
          <p:nvPr/>
        </p:nvSpPr>
        <p:spPr>
          <a:xfrm>
            <a:off x="507987" y="3316207"/>
            <a:ext cx="3496580" cy="838994"/>
          </a:xfrm>
          <a:prstGeom prst="rect">
            <a:avLst/>
          </a:prstGeom>
          <a:noFill/>
          <a:ln/>
        </p:spPr>
        <p:txBody>
          <a:bodyPr wrap="square" lIns="0" tIns="0" rIns="0" bIns="0" rtlCol="0" anchor="t">
            <a:normAutofit lnSpcReduction="10000"/>
          </a:bodyPr>
          <a:lstStyle/>
          <a:p>
            <a:pPr marL="0" indent="0" algn="l">
              <a:lnSpc>
                <a:spcPct val="88000"/>
              </a:lnSpc>
              <a:buNone/>
            </a:pPr>
            <a:r>
              <a:rPr lang="en-US" sz="3150" b="1" kern="100" spc="-31" dirty="0">
                <a:solidFill>
                  <a:srgbClr val="0B1F3A"/>
                </a:solidFill>
                <a:latin typeface="Arimo Bold" pitchFamily="34" charset="0"/>
                <a:ea typeface="Arimo Bold" pitchFamily="34" charset="-122"/>
                <a:cs typeface="Arimo Bold" pitchFamily="34" charset="-120"/>
              </a:rPr>
              <a:t>+11 percentage points</a:t>
            </a:r>
            <a:endParaRPr lang="en-US" sz="3150" dirty="0"/>
          </a:p>
        </p:txBody>
      </p:sp>
      <p:sp>
        <p:nvSpPr>
          <p:cNvPr id="9" name="Text 7"/>
          <p:cNvSpPr/>
          <p:nvPr/>
        </p:nvSpPr>
        <p:spPr>
          <a:xfrm>
            <a:off x="507987" y="4216476"/>
            <a:ext cx="3496580" cy="202902"/>
          </a:xfrm>
          <a:prstGeom prst="rect">
            <a:avLst/>
          </a:prstGeom>
          <a:noFill/>
          <a:ln/>
        </p:spPr>
        <p:txBody>
          <a:bodyPr wrap="none" lIns="0" tIns="0" rIns="0" bIns="0" rtlCol="0" anchor="t"/>
          <a:lstStyle/>
          <a:p>
            <a:pPr marL="0" indent="0" algn="l">
              <a:lnSpc>
                <a:spcPct val="104000"/>
              </a:lnSpc>
              <a:buNone/>
            </a:pPr>
            <a:r>
              <a:rPr lang="en-US" sz="1300" b="1" dirty="0">
                <a:solidFill>
                  <a:srgbClr val="0B1F3A"/>
                </a:solidFill>
                <a:latin typeface="Arimo Bold" pitchFamily="34" charset="0"/>
                <a:ea typeface="Arimo Bold" pitchFamily="34" charset="-122"/>
                <a:cs typeface="Arimo Bold" pitchFamily="34" charset="-120"/>
              </a:rPr>
              <a:t>Observed completion lift</a:t>
            </a:r>
            <a:endParaRPr lang="en-US" sz="1300" dirty="0"/>
          </a:p>
        </p:txBody>
      </p:sp>
      <p:sp>
        <p:nvSpPr>
          <p:cNvPr id="10" name="Text 8"/>
          <p:cNvSpPr/>
          <p:nvPr/>
        </p:nvSpPr>
        <p:spPr>
          <a:xfrm>
            <a:off x="507987" y="4516097"/>
            <a:ext cx="3725174" cy="170359"/>
          </a:xfrm>
          <a:prstGeom prst="rect">
            <a:avLst/>
          </a:prstGeom>
          <a:noFill/>
          <a:ln/>
        </p:spPr>
        <p:txBody>
          <a:bodyPr wrap="none" lIns="0" tIns="0" rIns="0" bIns="0" rtlCol="0" anchor="t"/>
          <a:lstStyle/>
          <a:p>
            <a:pPr marL="0" indent="0" algn="l">
              <a:lnSpc>
                <a:spcPct val="108000"/>
              </a:lnSpc>
              <a:buNone/>
            </a:pPr>
            <a:r>
              <a:rPr lang="en-US" sz="1050" dirty="0">
                <a:solidFill>
                  <a:srgbClr val="5B6573"/>
                </a:solidFill>
                <a:latin typeface="Arimo" pitchFamily="34" charset="0"/>
                <a:ea typeface="Arimo" pitchFamily="34" charset="-122"/>
                <a:cs typeface="Arimo" pitchFamily="34" charset="-120"/>
              </a:rPr>
              <a:t>580 to 690 per 1,000 (+19.0% relative lift)</a:t>
            </a:r>
            <a:endParaRPr lang="en-US" sz="1050" dirty="0"/>
          </a:p>
        </p:txBody>
      </p:sp>
      <p:sp>
        <p:nvSpPr>
          <p:cNvPr id="11" name="Text 9"/>
          <p:cNvSpPr/>
          <p:nvPr/>
        </p:nvSpPr>
        <p:spPr>
          <a:xfrm>
            <a:off x="4461756" y="3316207"/>
            <a:ext cx="3268085" cy="838994"/>
          </a:xfrm>
          <a:prstGeom prst="rect">
            <a:avLst/>
          </a:prstGeom>
          <a:noFill/>
          <a:ln/>
        </p:spPr>
        <p:txBody>
          <a:bodyPr wrap="square" lIns="0" tIns="0" rIns="0" bIns="0" rtlCol="0" anchor="t">
            <a:normAutofit lnSpcReduction="10000"/>
          </a:bodyPr>
          <a:lstStyle/>
          <a:p>
            <a:pPr marL="0" indent="0" algn="l">
              <a:lnSpc>
                <a:spcPct val="88000"/>
              </a:lnSpc>
              <a:buNone/>
            </a:pPr>
            <a:r>
              <a:rPr lang="en-US" sz="3150" b="1" kern="100" spc="-31" dirty="0">
                <a:solidFill>
                  <a:srgbClr val="0B1F3A"/>
                </a:solidFill>
                <a:latin typeface="Arimo Bold" pitchFamily="34" charset="0"/>
                <a:ea typeface="Arimo Bold" pitchFamily="34" charset="-122"/>
                <a:cs typeface="Arimo Bold" pitchFamily="34" charset="-120"/>
              </a:rPr>
              <a:t>+11 percentage points</a:t>
            </a:r>
            <a:endParaRPr lang="en-US" sz="3150" dirty="0"/>
          </a:p>
        </p:txBody>
      </p:sp>
      <p:sp>
        <p:nvSpPr>
          <p:cNvPr id="12" name="Text 10"/>
          <p:cNvSpPr/>
          <p:nvPr/>
        </p:nvSpPr>
        <p:spPr>
          <a:xfrm>
            <a:off x="4461756" y="4216476"/>
            <a:ext cx="3268085" cy="202902"/>
          </a:xfrm>
          <a:prstGeom prst="rect">
            <a:avLst/>
          </a:prstGeom>
          <a:noFill/>
          <a:ln/>
        </p:spPr>
        <p:txBody>
          <a:bodyPr wrap="none" lIns="0" tIns="0" rIns="0" bIns="0" rtlCol="0" anchor="t"/>
          <a:lstStyle/>
          <a:p>
            <a:pPr marL="0" indent="0" algn="l">
              <a:lnSpc>
                <a:spcPct val="104000"/>
              </a:lnSpc>
              <a:buNone/>
            </a:pPr>
            <a:r>
              <a:rPr lang="en-US" sz="1300" b="1" dirty="0">
                <a:solidFill>
                  <a:srgbClr val="0B1F3A"/>
                </a:solidFill>
                <a:latin typeface="Arimo Bold" pitchFamily="34" charset="0"/>
                <a:ea typeface="Arimo Bold" pitchFamily="34" charset="-122"/>
                <a:cs typeface="Arimo Bold" pitchFamily="34" charset="-120"/>
              </a:rPr>
              <a:t>Observed outcome lift</a:t>
            </a:r>
            <a:endParaRPr lang="en-US" sz="1300" dirty="0"/>
          </a:p>
        </p:txBody>
      </p:sp>
      <p:sp>
        <p:nvSpPr>
          <p:cNvPr id="13" name="Text 11"/>
          <p:cNvSpPr/>
          <p:nvPr/>
        </p:nvSpPr>
        <p:spPr>
          <a:xfrm>
            <a:off x="4461756" y="4516097"/>
            <a:ext cx="3496679" cy="170359"/>
          </a:xfrm>
          <a:prstGeom prst="rect">
            <a:avLst/>
          </a:prstGeom>
          <a:noFill/>
          <a:ln/>
        </p:spPr>
        <p:txBody>
          <a:bodyPr wrap="none" lIns="0" tIns="0" rIns="0" bIns="0" rtlCol="0" anchor="t"/>
          <a:lstStyle/>
          <a:p>
            <a:pPr marL="0" indent="0" algn="l">
              <a:lnSpc>
                <a:spcPct val="108000"/>
              </a:lnSpc>
              <a:buNone/>
            </a:pPr>
            <a:r>
              <a:rPr lang="en-US" sz="1050" dirty="0">
                <a:solidFill>
                  <a:srgbClr val="5B6573"/>
                </a:solidFill>
                <a:latin typeface="Arimo" pitchFamily="34" charset="0"/>
                <a:ea typeface="Arimo" pitchFamily="34" charset="-122"/>
                <a:cs typeface="Arimo" pitchFamily="34" charset="-120"/>
              </a:rPr>
              <a:t>440 to 550 per 1,000 (+25.0% relative lift)</a:t>
            </a:r>
            <a:endParaRPr lang="en-US" sz="1050" dirty="0"/>
          </a:p>
        </p:txBody>
      </p:sp>
      <p:sp>
        <p:nvSpPr>
          <p:cNvPr id="14" name="Text 12"/>
          <p:cNvSpPr/>
          <p:nvPr/>
        </p:nvSpPr>
        <p:spPr>
          <a:xfrm>
            <a:off x="8187029" y="3316207"/>
            <a:ext cx="3496679" cy="419497"/>
          </a:xfrm>
          <a:prstGeom prst="rect">
            <a:avLst/>
          </a:prstGeom>
          <a:noFill/>
          <a:ln/>
        </p:spPr>
        <p:txBody>
          <a:bodyPr wrap="none" lIns="0" tIns="0" rIns="0" bIns="0" rtlCol="0" anchor="t"/>
          <a:lstStyle/>
          <a:p>
            <a:pPr marL="0" indent="0" algn="l">
              <a:lnSpc>
                <a:spcPct val="88000"/>
              </a:lnSpc>
              <a:buNone/>
            </a:pPr>
            <a:r>
              <a:rPr lang="en-US" sz="3150" b="1" kern="100" spc="-31" dirty="0">
                <a:solidFill>
                  <a:srgbClr val="0B1F3A"/>
                </a:solidFill>
                <a:latin typeface="Arimo Bold" pitchFamily="34" charset="0"/>
                <a:ea typeface="Arimo Bold" pitchFamily="34" charset="-122"/>
                <a:cs typeface="Arimo Bold" pitchFamily="34" charset="-120"/>
              </a:rPr>
              <a:t>About AUD727</a:t>
            </a:r>
            <a:endParaRPr lang="en-US" sz="3150" dirty="0"/>
          </a:p>
        </p:txBody>
      </p:sp>
      <p:sp>
        <p:nvSpPr>
          <p:cNvPr id="15" name="Text 13"/>
          <p:cNvSpPr/>
          <p:nvPr/>
        </p:nvSpPr>
        <p:spPr>
          <a:xfrm>
            <a:off x="8187029" y="3796979"/>
            <a:ext cx="3496679" cy="202902"/>
          </a:xfrm>
          <a:prstGeom prst="rect">
            <a:avLst/>
          </a:prstGeom>
          <a:noFill/>
          <a:ln/>
        </p:spPr>
        <p:txBody>
          <a:bodyPr wrap="none" lIns="0" tIns="0" rIns="0" bIns="0" rtlCol="0" anchor="t"/>
          <a:lstStyle/>
          <a:p>
            <a:pPr marL="0" indent="0" algn="l">
              <a:lnSpc>
                <a:spcPct val="104000"/>
              </a:lnSpc>
              <a:buNone/>
            </a:pPr>
            <a:r>
              <a:rPr lang="en-US" sz="1300" b="1" dirty="0">
                <a:solidFill>
                  <a:srgbClr val="0B1F3A"/>
                </a:solidFill>
                <a:latin typeface="Arimo Bold" pitchFamily="34" charset="0"/>
                <a:ea typeface="Arimo Bold" pitchFamily="34" charset="-122"/>
                <a:cs typeface="Arimo Bold" pitchFamily="34" charset="-120"/>
              </a:rPr>
              <a:t>Cost per additional outcome observed</a:t>
            </a:r>
            <a:endParaRPr lang="en-US" sz="1300" dirty="0"/>
          </a:p>
        </p:txBody>
      </p:sp>
      <p:sp>
        <p:nvSpPr>
          <p:cNvPr id="16" name="Text 14"/>
          <p:cNvSpPr/>
          <p:nvPr/>
        </p:nvSpPr>
        <p:spPr>
          <a:xfrm>
            <a:off x="8187029" y="4096600"/>
            <a:ext cx="3496679" cy="170359"/>
          </a:xfrm>
          <a:prstGeom prst="rect">
            <a:avLst/>
          </a:prstGeom>
          <a:noFill/>
          <a:ln/>
        </p:spPr>
        <p:txBody>
          <a:bodyPr wrap="none" lIns="0" tIns="0" rIns="0" bIns="0" rtlCol="0" anchor="t"/>
          <a:lstStyle/>
          <a:p>
            <a:pPr marL="0" indent="0" algn="l">
              <a:lnSpc>
                <a:spcPct val="108000"/>
              </a:lnSpc>
              <a:buNone/>
            </a:pPr>
            <a:r>
              <a:rPr lang="en-US" sz="1050" dirty="0">
                <a:solidFill>
                  <a:srgbClr val="5B6573"/>
                </a:solidFill>
                <a:latin typeface="Arimo" pitchFamily="34" charset="0"/>
                <a:ea typeface="Arimo" pitchFamily="34" charset="-122"/>
                <a:cs typeface="Arimo" pitchFamily="34" charset="-120"/>
              </a:rPr>
              <a:t>Per additional completion or recorded outcome</a:t>
            </a:r>
            <a:endParaRPr lang="en-US" sz="1050" dirty="0"/>
          </a:p>
        </p:txBody>
      </p:sp>
      <p:sp>
        <p:nvSpPr>
          <p:cNvPr id="17" name="Shape 15"/>
          <p:cNvSpPr/>
          <p:nvPr/>
        </p:nvSpPr>
        <p:spPr>
          <a:xfrm>
            <a:off x="507987" y="4838601"/>
            <a:ext cx="6614054" cy="1213048"/>
          </a:xfrm>
          <a:prstGeom prst="rect">
            <a:avLst/>
          </a:prstGeom>
          <a:solidFill>
            <a:srgbClr val="F2F4F6"/>
          </a:solidFill>
          <a:ln/>
        </p:spPr>
        <p:txBody>
          <a:bodyPr/>
          <a:lstStyle/>
          <a:p>
            <a:endParaRPr lang="en-US"/>
          </a:p>
        </p:txBody>
      </p:sp>
      <p:sp>
        <p:nvSpPr>
          <p:cNvPr id="18" name="Shape 16"/>
          <p:cNvSpPr/>
          <p:nvPr/>
        </p:nvSpPr>
        <p:spPr>
          <a:xfrm>
            <a:off x="507987" y="4838601"/>
            <a:ext cx="38099" cy="1213048"/>
          </a:xfrm>
          <a:prstGeom prst="rect">
            <a:avLst/>
          </a:prstGeom>
          <a:solidFill>
            <a:srgbClr val="C0102F"/>
          </a:solidFill>
          <a:ln/>
        </p:spPr>
        <p:txBody>
          <a:bodyPr/>
          <a:lstStyle/>
          <a:p>
            <a:endParaRPr lang="en-US"/>
          </a:p>
        </p:txBody>
      </p:sp>
      <p:sp>
        <p:nvSpPr>
          <p:cNvPr id="19" name="Text 17"/>
          <p:cNvSpPr/>
          <p:nvPr/>
        </p:nvSpPr>
        <p:spPr>
          <a:xfrm>
            <a:off x="749281" y="4965680"/>
            <a:ext cx="6169565" cy="627459"/>
          </a:xfrm>
          <a:prstGeom prst="rect">
            <a:avLst/>
          </a:prstGeom>
          <a:noFill/>
          <a:ln/>
        </p:spPr>
        <p:txBody>
          <a:bodyPr wrap="square" lIns="0" tIns="0" rIns="0" bIns="0" rtlCol="0" anchor="t">
            <a:normAutofit/>
          </a:bodyPr>
          <a:lstStyle/>
          <a:p>
            <a:pPr marL="0" indent="0" algn="l">
              <a:lnSpc>
                <a:spcPct val="107000"/>
              </a:lnSpc>
              <a:buNone/>
            </a:pPr>
            <a:r>
              <a:rPr lang="en-US" sz="1300" b="1" dirty="0">
                <a:solidFill>
                  <a:srgbClr val="2B2F36"/>
                </a:solidFill>
                <a:latin typeface="Arimo Bold" pitchFamily="34" charset="0"/>
                <a:ea typeface="Arimo Bold" pitchFamily="34" charset="-122"/>
                <a:cs typeface="Arimo Bold" pitchFamily="34" charset="-120"/>
              </a:rPr>
              <a:t>Targeting caveat:</a:t>
            </a:r>
            <a:r>
              <a:rPr lang="en-US" sz="1300" dirty="0">
                <a:solidFill>
                  <a:srgbClr val="2B2F36"/>
                </a:solidFill>
                <a:latin typeface="Arimo" pitchFamily="34" charset="0"/>
                <a:ea typeface="Arimo" pitchFamily="34" charset="-122"/>
                <a:cs typeface="Arimo" pitchFamily="34" charset="-120"/>
              </a:rPr>
              <a:t> Target low-performing programs only where prior results and diagnosed barriers support mentoring. The pilot shows no proven greater benefit for that subgroup.</a:t>
            </a:r>
            <a:endParaRPr lang="en-US" sz="1300" dirty="0"/>
          </a:p>
        </p:txBody>
      </p:sp>
      <p:sp>
        <p:nvSpPr>
          <p:cNvPr id="20" name="Shape 18"/>
          <p:cNvSpPr/>
          <p:nvPr/>
        </p:nvSpPr>
        <p:spPr>
          <a:xfrm>
            <a:off x="7274338" y="4838601"/>
            <a:ext cx="4409369" cy="1213048"/>
          </a:xfrm>
          <a:prstGeom prst="rect">
            <a:avLst/>
          </a:prstGeom>
          <a:noFill/>
          <a:ln w="6350">
            <a:solidFill>
              <a:srgbClr val="D5DAE0"/>
            </a:solidFill>
            <a:prstDash val="solid"/>
          </a:ln>
          <a:effectLst>
            <a:outerShdw blurRad="30480" dist="11430" dir="5400000" algn="bl" rotWithShape="0">
              <a:srgbClr val="0B1F3A">
                <a:alpha val="1000"/>
              </a:srgbClr>
            </a:outerShdw>
          </a:effectLst>
        </p:spPr>
        <p:txBody>
          <a:bodyPr/>
          <a:lstStyle/>
          <a:p>
            <a:endParaRPr lang="en-US"/>
          </a:p>
        </p:txBody>
      </p:sp>
      <p:sp>
        <p:nvSpPr>
          <p:cNvPr id="21" name="Text 19"/>
          <p:cNvSpPr/>
          <p:nvPr/>
        </p:nvSpPr>
        <p:spPr>
          <a:xfrm>
            <a:off x="7483883" y="4971951"/>
            <a:ext cx="4199825" cy="142379"/>
          </a:xfrm>
          <a:prstGeom prst="rect">
            <a:avLst/>
          </a:prstGeom>
          <a:noFill/>
          <a:ln/>
        </p:spPr>
        <p:txBody>
          <a:bodyPr wrap="none" lIns="0" tIns="0" rIns="0" bIns="0" rtlCol="0" anchor="t"/>
          <a:lstStyle/>
          <a:p>
            <a:pPr marL="0" indent="0" algn="l">
              <a:lnSpc>
                <a:spcPct val="100000"/>
              </a:lnSpc>
              <a:buNone/>
            </a:pPr>
            <a:r>
              <a:rPr lang="en-US" sz="950" b="1" kern="100" spc="75" dirty="0">
                <a:solidFill>
                  <a:srgbClr val="5B6573"/>
                </a:solidFill>
                <a:latin typeface="Arimo Bold" pitchFamily="34" charset="0"/>
                <a:ea typeface="Arimo Bold" pitchFamily="34" charset="-122"/>
                <a:cs typeface="Arimo Bold" pitchFamily="34" charset="-120"/>
              </a:rPr>
              <a:t>GOVERNANCE REQUIREMENT</a:t>
            </a:r>
            <a:endParaRPr lang="en-US" sz="950" dirty="0"/>
          </a:p>
        </p:txBody>
      </p:sp>
      <p:sp>
        <p:nvSpPr>
          <p:cNvPr id="22" name="Text 20"/>
          <p:cNvSpPr/>
          <p:nvPr/>
        </p:nvSpPr>
        <p:spPr>
          <a:xfrm>
            <a:off x="7483883" y="5200420"/>
            <a:ext cx="3990280" cy="724198"/>
          </a:xfrm>
          <a:prstGeom prst="rect">
            <a:avLst/>
          </a:prstGeom>
          <a:noFill/>
          <a:ln/>
        </p:spPr>
        <p:txBody>
          <a:bodyPr wrap="square" lIns="0" tIns="0" rIns="0" bIns="0" rtlCol="0" anchor="t">
            <a:normAutofit/>
          </a:bodyPr>
          <a:lstStyle/>
          <a:p>
            <a:pPr marL="0" indent="0" algn="l">
              <a:lnSpc>
                <a:spcPct val="107000"/>
              </a:lnSpc>
              <a:buNone/>
            </a:pPr>
            <a:r>
              <a:rPr lang="en-US" sz="1450" dirty="0">
                <a:solidFill>
                  <a:srgbClr val="2B2F36"/>
                </a:solidFill>
                <a:latin typeface="Arimo" pitchFamily="34" charset="0"/>
                <a:ea typeface="Arimo" pitchFamily="34" charset="-122"/>
                <a:cs typeface="Arimo" pitchFamily="34" charset="-120"/>
              </a:rPr>
              <a:t>Review statistical and operational evidence before approving each further batch. Do not commit to unverified scale.</a:t>
            </a:r>
            <a:endParaRPr lang="en-US" sz="1450" dirty="0"/>
          </a:p>
        </p:txBody>
      </p:sp>
      <p:sp>
        <p:nvSpPr>
          <p:cNvPr id="24" name="Shape 22"/>
          <p:cNvSpPr/>
          <p:nvPr/>
        </p:nvSpPr>
        <p:spPr>
          <a:xfrm>
            <a:off x="4226811" y="3296047"/>
            <a:ext cx="12700" cy="1390154"/>
          </a:xfrm>
          <a:prstGeom prst="rect">
            <a:avLst/>
          </a:prstGeom>
          <a:solidFill>
            <a:srgbClr val="D5DAE0"/>
          </a:solidFill>
          <a:ln/>
        </p:spPr>
        <p:txBody>
          <a:bodyPr/>
          <a:lstStyle/>
          <a:p>
            <a:endParaRPr lang="en-US"/>
          </a:p>
        </p:txBody>
      </p:sp>
      <p:sp>
        <p:nvSpPr>
          <p:cNvPr id="25" name="Shape 23"/>
          <p:cNvSpPr/>
          <p:nvPr/>
        </p:nvSpPr>
        <p:spPr>
          <a:xfrm>
            <a:off x="7952085" y="3296047"/>
            <a:ext cx="12700" cy="1390154"/>
          </a:xfrm>
          <a:prstGeom prst="rect">
            <a:avLst/>
          </a:prstGeom>
          <a:solidFill>
            <a:srgbClr val="D5DAE0"/>
          </a:solidFill>
          <a:ln/>
        </p:spPr>
        <p:txBody>
          <a:bodyPr/>
          <a:lstStyle/>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07987" y="508000"/>
            <a:ext cx="11683708" cy="144760"/>
          </a:xfrm>
          <a:prstGeom prst="rect">
            <a:avLst/>
          </a:prstGeom>
          <a:noFill/>
          <a:ln/>
        </p:spPr>
        <p:txBody>
          <a:bodyPr wrap="none" lIns="0" tIns="0" rIns="0" bIns="0" rtlCol="0" anchor="t"/>
          <a:lstStyle/>
          <a:p>
            <a:pPr marL="0" indent="0" algn="l">
              <a:lnSpc>
                <a:spcPct val="100000"/>
              </a:lnSpc>
              <a:buNone/>
            </a:pPr>
            <a:r>
              <a:rPr lang="en-US" sz="950" b="1" kern="100" spc="76" dirty="0">
                <a:solidFill>
                  <a:srgbClr val="5B6573"/>
                </a:solidFill>
                <a:latin typeface="Arimo Bold" pitchFamily="34" charset="0"/>
                <a:ea typeface="Arimo Bold" pitchFamily="34" charset="-122"/>
                <a:cs typeface="Arimo Bold" pitchFamily="34" charset="-120"/>
              </a:rPr>
              <a:t>STRATEGIC CONTEXT &amp; EVALUATION MANDATE</a:t>
            </a:r>
            <a:endParaRPr lang="en-US" sz="950" dirty="0"/>
          </a:p>
        </p:txBody>
      </p:sp>
      <p:sp>
        <p:nvSpPr>
          <p:cNvPr id="3" name="Text 1"/>
          <p:cNvSpPr/>
          <p:nvPr/>
        </p:nvSpPr>
        <p:spPr>
          <a:xfrm>
            <a:off x="507987" y="715879"/>
            <a:ext cx="11175720" cy="398264"/>
          </a:xfrm>
          <a:prstGeom prst="rect">
            <a:avLst/>
          </a:prstGeom>
          <a:noFill/>
          <a:ln/>
        </p:spPr>
        <p:txBody>
          <a:bodyPr wrap="none" lIns="0" tIns="0" rIns="0" bIns="0" rtlCol="0" anchor="t"/>
          <a:lstStyle/>
          <a:p>
            <a:pPr marL="0" indent="0" algn="l">
              <a:lnSpc>
                <a:spcPct val="93000"/>
              </a:lnSpc>
              <a:buNone/>
            </a:pPr>
            <a:r>
              <a:rPr lang="en-US" sz="2800" b="1" kern="100" spc="-14" dirty="0">
                <a:solidFill>
                  <a:srgbClr val="0B1F3A"/>
                </a:solidFill>
                <a:latin typeface="Arimo Bold" pitchFamily="34" charset="0"/>
                <a:ea typeface="Arimo Bold" pitchFamily="34" charset="-122"/>
                <a:cs typeface="Arimo Bold" pitchFamily="34" charset="-120"/>
              </a:rPr>
              <a:t>Business problem: improve completion and participant outcomes</a:t>
            </a:r>
            <a:endParaRPr lang="en-US" sz="2800" dirty="0"/>
          </a:p>
        </p:txBody>
      </p:sp>
      <p:sp>
        <p:nvSpPr>
          <p:cNvPr id="4" name="Shape 2"/>
          <p:cNvSpPr/>
          <p:nvPr/>
        </p:nvSpPr>
        <p:spPr>
          <a:xfrm>
            <a:off x="507987" y="1289149"/>
            <a:ext cx="11175621" cy="19050"/>
          </a:xfrm>
          <a:prstGeom prst="roundRect">
            <a:avLst>
              <a:gd name="adj" fmla="val 49999"/>
            </a:avLst>
          </a:prstGeom>
          <a:solidFill>
            <a:srgbClr val="D5DAE0"/>
          </a:solidFill>
          <a:ln/>
        </p:spPr>
        <p:txBody>
          <a:bodyPr/>
          <a:lstStyle/>
          <a:p>
            <a:endParaRPr lang="en-US"/>
          </a:p>
        </p:txBody>
      </p:sp>
      <p:sp>
        <p:nvSpPr>
          <p:cNvPr id="5" name="Shape 3"/>
          <p:cNvSpPr/>
          <p:nvPr/>
        </p:nvSpPr>
        <p:spPr>
          <a:xfrm>
            <a:off x="507987" y="1476474"/>
            <a:ext cx="4409369" cy="1708051"/>
          </a:xfrm>
          <a:prstGeom prst="rect">
            <a:avLst/>
          </a:prstGeom>
          <a:solidFill>
            <a:srgbClr val="0B1F3A"/>
          </a:solidFill>
          <a:ln/>
          <a:effectLst>
            <a:outerShdw blurRad="30480" dist="11430" dir="5400000" algn="bl" rotWithShape="0">
              <a:srgbClr val="0B1F3A">
                <a:alpha val="1000"/>
              </a:srgbClr>
            </a:outerShdw>
          </a:effectLst>
        </p:spPr>
        <p:txBody>
          <a:bodyPr/>
          <a:lstStyle/>
          <a:p>
            <a:endParaRPr lang="en-US"/>
          </a:p>
        </p:txBody>
      </p:sp>
      <p:sp>
        <p:nvSpPr>
          <p:cNvPr id="6" name="Text 4"/>
          <p:cNvSpPr/>
          <p:nvPr/>
        </p:nvSpPr>
        <p:spPr>
          <a:xfrm>
            <a:off x="736582" y="1705074"/>
            <a:ext cx="4180775" cy="144760"/>
          </a:xfrm>
          <a:prstGeom prst="rect">
            <a:avLst/>
          </a:prstGeom>
          <a:noFill/>
          <a:ln/>
        </p:spPr>
        <p:txBody>
          <a:bodyPr wrap="none" lIns="0" tIns="0" rIns="0" bIns="0" rtlCol="0" anchor="t"/>
          <a:lstStyle/>
          <a:p>
            <a:pPr marL="0" indent="0" algn="l">
              <a:lnSpc>
                <a:spcPct val="100000"/>
              </a:lnSpc>
              <a:buNone/>
            </a:pPr>
            <a:r>
              <a:rPr lang="en-US" sz="950" b="1" kern="100" spc="76" dirty="0">
                <a:solidFill>
                  <a:srgbClr val="FFFFFF"/>
                </a:solidFill>
                <a:latin typeface="Arimo Bold" pitchFamily="34" charset="0"/>
                <a:ea typeface="Arimo Bold" pitchFamily="34" charset="-122"/>
                <a:cs typeface="Arimo Bold" pitchFamily="34" charset="-120"/>
              </a:rPr>
              <a:t>OBJECTIVE</a:t>
            </a:r>
            <a:endParaRPr lang="en-US" sz="950" dirty="0"/>
          </a:p>
        </p:txBody>
      </p:sp>
      <p:sp>
        <p:nvSpPr>
          <p:cNvPr id="7" name="Text 5"/>
          <p:cNvSpPr/>
          <p:nvPr/>
        </p:nvSpPr>
        <p:spPr>
          <a:xfrm>
            <a:off x="736582" y="1935877"/>
            <a:ext cx="3952181" cy="429220"/>
          </a:xfrm>
          <a:prstGeom prst="rect">
            <a:avLst/>
          </a:prstGeom>
          <a:noFill/>
          <a:ln/>
        </p:spPr>
        <p:txBody>
          <a:bodyPr wrap="square" lIns="0" tIns="0" rIns="0" bIns="0" rtlCol="0" anchor="t">
            <a:normAutofit/>
          </a:bodyPr>
          <a:lstStyle/>
          <a:p>
            <a:pPr marL="0" indent="0" algn="l">
              <a:lnSpc>
                <a:spcPct val="108000"/>
              </a:lnSpc>
              <a:buNone/>
            </a:pPr>
            <a:r>
              <a:rPr lang="en-US" sz="1300" dirty="0">
                <a:solidFill>
                  <a:srgbClr val="FFFFFF"/>
                </a:solidFill>
                <a:latin typeface="Arimo" pitchFamily="34" charset="0"/>
                <a:ea typeface="Arimo" pitchFamily="34" charset="-122"/>
                <a:cs typeface="Arimo" pitchFamily="34" charset="-120"/>
              </a:rPr>
              <a:t>Grad Careers wants to improve workshop completion and participant outcomes.</a:t>
            </a:r>
            <a:endParaRPr lang="en-US" sz="1300" dirty="0"/>
          </a:p>
        </p:txBody>
      </p:sp>
      <p:sp>
        <p:nvSpPr>
          <p:cNvPr id="8" name="Shape 6"/>
          <p:cNvSpPr/>
          <p:nvPr/>
        </p:nvSpPr>
        <p:spPr>
          <a:xfrm>
            <a:off x="5069654" y="1476474"/>
            <a:ext cx="6614054" cy="1708051"/>
          </a:xfrm>
          <a:prstGeom prst="rect">
            <a:avLst/>
          </a:prstGeom>
          <a:solidFill>
            <a:srgbClr val="F2F4F6"/>
          </a:solidFill>
          <a:ln/>
          <a:effectLst>
            <a:outerShdw blurRad="30480" dist="11430" dir="5400000" algn="bl" rotWithShape="0">
              <a:srgbClr val="0B1F3A">
                <a:alpha val="1000"/>
              </a:srgbClr>
            </a:outerShdw>
          </a:effectLst>
        </p:spPr>
        <p:txBody>
          <a:bodyPr/>
          <a:lstStyle/>
          <a:p>
            <a:endParaRPr lang="en-US"/>
          </a:p>
        </p:txBody>
      </p:sp>
      <p:sp>
        <p:nvSpPr>
          <p:cNvPr id="9" name="Text 7"/>
          <p:cNvSpPr/>
          <p:nvPr/>
        </p:nvSpPr>
        <p:spPr>
          <a:xfrm>
            <a:off x="5298248" y="1705074"/>
            <a:ext cx="6385460" cy="144760"/>
          </a:xfrm>
          <a:prstGeom prst="rect">
            <a:avLst/>
          </a:prstGeom>
          <a:noFill/>
          <a:ln/>
        </p:spPr>
        <p:txBody>
          <a:bodyPr wrap="none" lIns="0" tIns="0" rIns="0" bIns="0" rtlCol="0" anchor="t"/>
          <a:lstStyle/>
          <a:p>
            <a:pPr marL="0" indent="0" algn="l">
              <a:lnSpc>
                <a:spcPct val="100000"/>
              </a:lnSpc>
              <a:buNone/>
            </a:pPr>
            <a:r>
              <a:rPr lang="en-US" sz="950" b="1" kern="100" spc="76" dirty="0">
                <a:solidFill>
                  <a:srgbClr val="2B2F36"/>
                </a:solidFill>
                <a:latin typeface="Arimo Bold" pitchFamily="34" charset="0"/>
                <a:ea typeface="Arimo Bold" pitchFamily="34" charset="-122"/>
                <a:cs typeface="Arimo Bold" pitchFamily="34" charset="-120"/>
              </a:rPr>
              <a:t>PILOT &amp; EVALUATION</a:t>
            </a:r>
            <a:endParaRPr lang="en-US" sz="950" dirty="0"/>
          </a:p>
        </p:txBody>
      </p:sp>
      <p:sp>
        <p:nvSpPr>
          <p:cNvPr id="10" name="Text 8"/>
          <p:cNvSpPr/>
          <p:nvPr/>
        </p:nvSpPr>
        <p:spPr>
          <a:xfrm>
            <a:off x="5298248" y="1932384"/>
            <a:ext cx="6156866" cy="1023541"/>
          </a:xfrm>
          <a:prstGeom prst="rect">
            <a:avLst/>
          </a:prstGeom>
          <a:noFill/>
          <a:ln/>
        </p:spPr>
        <p:txBody>
          <a:bodyPr wrap="square" lIns="0" tIns="0" rIns="0" bIns="0" rtlCol="0" anchor="t"/>
          <a:lstStyle/>
          <a:p>
            <a:pPr marL="0" indent="0" algn="l">
              <a:lnSpc>
                <a:spcPct val="108000"/>
              </a:lnSpc>
              <a:spcAft>
                <a:spcPts val="600"/>
              </a:spcAft>
              <a:buNone/>
            </a:pPr>
            <a:r>
              <a:rPr lang="en-US" sz="1300" dirty="0">
                <a:solidFill>
                  <a:srgbClr val="2B2F36"/>
                </a:solidFill>
                <a:latin typeface="Arimo" pitchFamily="34" charset="0"/>
                <a:ea typeface="Arimo" pitchFamily="34" charset="-122"/>
                <a:cs typeface="Arimo" pitchFamily="34" charset="-120"/>
              </a:rPr>
              <a:t>A four-week pilot compared usual delivery with an employer mentor add-on.</a:t>
            </a:r>
            <a:endParaRPr lang="en-US" sz="1300" dirty="0"/>
          </a:p>
          <a:p>
            <a:pPr marL="0" indent="0" algn="l">
              <a:lnSpc>
                <a:spcPct val="108000"/>
              </a:lnSpc>
              <a:spcAft>
                <a:spcPts val="600"/>
              </a:spcAft>
              <a:buNone/>
            </a:pPr>
            <a:r>
              <a:rPr lang="en-US" sz="1300" dirty="0">
                <a:solidFill>
                  <a:srgbClr val="2B2F36"/>
                </a:solidFill>
                <a:latin typeface="Arimo" pitchFamily="34" charset="0"/>
                <a:ea typeface="Arimo" pitchFamily="34" charset="-122"/>
                <a:cs typeface="Arimo" pitchFamily="34" charset="-120"/>
              </a:rPr>
              <a:t>Evaluation focus: completion, recorded outcome rates, statistical evidence, and cost-effectiveness to inform further investment.</a:t>
            </a:r>
            <a:endParaRPr lang="en-US" sz="1300" dirty="0"/>
          </a:p>
          <a:p>
            <a:pPr marL="0" indent="0" algn="l">
              <a:lnSpc>
                <a:spcPct val="108000"/>
              </a:lnSpc>
              <a:buNone/>
            </a:pPr>
            <a:r>
              <a:rPr lang="en-US" sz="1300" dirty="0">
                <a:solidFill>
                  <a:srgbClr val="2B2F36"/>
                </a:solidFill>
                <a:latin typeface="Arimo" pitchFamily="34" charset="0"/>
                <a:ea typeface="Arimo" pitchFamily="34" charset="-122"/>
                <a:cs typeface="Arimo" pitchFamily="34" charset="-120"/>
              </a:rPr>
              <a:t>Completion and outcomes are distinct measures.</a:t>
            </a:r>
            <a:endParaRPr lang="en-US" sz="1300" dirty="0"/>
          </a:p>
        </p:txBody>
      </p:sp>
      <p:sp>
        <p:nvSpPr>
          <p:cNvPr id="11" name="Shape 9"/>
          <p:cNvSpPr/>
          <p:nvPr/>
        </p:nvSpPr>
        <p:spPr>
          <a:xfrm>
            <a:off x="507987" y="3311525"/>
            <a:ext cx="11175720" cy="734020"/>
          </a:xfrm>
          <a:prstGeom prst="rect">
            <a:avLst/>
          </a:prstGeom>
          <a:solidFill>
            <a:srgbClr val="F2F4F6"/>
          </a:solidFill>
          <a:ln/>
        </p:spPr>
        <p:txBody>
          <a:bodyPr/>
          <a:lstStyle/>
          <a:p>
            <a:endParaRPr lang="en-US"/>
          </a:p>
        </p:txBody>
      </p:sp>
      <p:sp>
        <p:nvSpPr>
          <p:cNvPr id="12" name="Shape 10"/>
          <p:cNvSpPr/>
          <p:nvPr/>
        </p:nvSpPr>
        <p:spPr>
          <a:xfrm>
            <a:off x="507987" y="3311525"/>
            <a:ext cx="38099" cy="734020"/>
          </a:xfrm>
          <a:prstGeom prst="rect">
            <a:avLst/>
          </a:prstGeom>
          <a:solidFill>
            <a:srgbClr val="C0102F"/>
          </a:solidFill>
          <a:ln/>
        </p:spPr>
        <p:txBody>
          <a:bodyPr/>
          <a:lstStyle/>
          <a:p>
            <a:endParaRPr lang="en-US"/>
          </a:p>
        </p:txBody>
      </p:sp>
      <p:sp>
        <p:nvSpPr>
          <p:cNvPr id="13" name="Text 11"/>
          <p:cNvSpPr/>
          <p:nvPr/>
        </p:nvSpPr>
        <p:spPr>
          <a:xfrm>
            <a:off x="774681" y="3467418"/>
            <a:ext cx="10680433" cy="429220"/>
          </a:xfrm>
          <a:prstGeom prst="rect">
            <a:avLst/>
          </a:prstGeom>
          <a:noFill/>
          <a:ln/>
        </p:spPr>
        <p:txBody>
          <a:bodyPr wrap="square" lIns="0" tIns="0" rIns="0" bIns="0" rtlCol="0" anchor="t">
            <a:normAutofit/>
          </a:bodyPr>
          <a:lstStyle/>
          <a:p>
            <a:pPr marL="0" indent="0" algn="l">
              <a:lnSpc>
                <a:spcPct val="108000"/>
              </a:lnSpc>
              <a:buNone/>
            </a:pPr>
            <a:r>
              <a:rPr lang="en-US" sz="1300" b="1" dirty="0">
                <a:solidFill>
                  <a:srgbClr val="2B2F36"/>
                </a:solidFill>
                <a:latin typeface="Arimo Bold" pitchFamily="34" charset="0"/>
                <a:ea typeface="Arimo Bold" pitchFamily="34" charset="-122"/>
                <a:cs typeface="Arimo Bold" pitchFamily="34" charset="-120"/>
              </a:rPr>
              <a:t>Measurement definition:</a:t>
            </a:r>
            <a:r>
              <a:rPr lang="en-US" sz="1300" dirty="0">
                <a:solidFill>
                  <a:srgbClr val="2B2F36"/>
                </a:solidFill>
                <a:latin typeface="Arimo" pitchFamily="34" charset="0"/>
                <a:ea typeface="Arimo" pitchFamily="34" charset="-122"/>
                <a:cs typeface="Arimo" pitchFamily="34" charset="-120"/>
              </a:rPr>
              <a:t> The precise outcome definition and measurement window require confirmation. The brief describes an employment outcome, but the dataset contains only OutcomeAchieved.</a:t>
            </a:r>
            <a:endParaRPr lang="en-US" sz="1300" dirty="0"/>
          </a:p>
        </p:txBody>
      </p:sp>
      <p:sp>
        <p:nvSpPr>
          <p:cNvPr id="16" name="Text 14"/>
          <p:cNvSpPr/>
          <p:nvPr/>
        </p:nvSpPr>
        <p:spPr>
          <a:xfrm>
            <a:off x="11620209" y="6555085"/>
            <a:ext cx="571486" cy="148530"/>
          </a:xfrm>
          <a:prstGeom prst="rect">
            <a:avLst/>
          </a:prstGeom>
          <a:noFill/>
          <a:ln/>
        </p:spPr>
        <p:txBody>
          <a:bodyPr wrap="none" lIns="0" tIns="0" rIns="0" bIns="0" rtlCol="0" anchor="ctr"/>
          <a:lstStyle/>
          <a:p>
            <a:pPr marL="0" indent="0" algn="l">
              <a:lnSpc>
                <a:spcPct val="108000"/>
              </a:lnSpc>
              <a:buNone/>
            </a:pPr>
            <a:r>
              <a:rPr lang="en-US" sz="900" dirty="0">
                <a:solidFill>
                  <a:srgbClr val="2B2F36"/>
                </a:solidFill>
                <a:latin typeface="Arimo" pitchFamily="34" charset="0"/>
                <a:ea typeface="Arimo" pitchFamily="34" charset="-122"/>
                <a:cs typeface="Arimo"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07987" y="508000"/>
            <a:ext cx="11683708" cy="144760"/>
          </a:xfrm>
          <a:prstGeom prst="rect">
            <a:avLst/>
          </a:prstGeom>
          <a:noFill/>
          <a:ln/>
        </p:spPr>
        <p:txBody>
          <a:bodyPr wrap="none" lIns="0" tIns="0" rIns="0" bIns="0" rtlCol="0" anchor="t"/>
          <a:lstStyle/>
          <a:p>
            <a:pPr marL="0" indent="0" algn="l">
              <a:lnSpc>
                <a:spcPct val="100000"/>
              </a:lnSpc>
              <a:buNone/>
            </a:pPr>
            <a:r>
              <a:rPr lang="en-US" sz="950" b="1" kern="100" spc="76" dirty="0">
                <a:solidFill>
                  <a:srgbClr val="5B6573"/>
                </a:solidFill>
                <a:latin typeface="Arimo Bold" pitchFamily="34" charset="0"/>
                <a:ea typeface="Arimo Bold" pitchFamily="34" charset="-122"/>
                <a:cs typeface="Arimo Bold" pitchFamily="34" charset="-120"/>
              </a:rPr>
              <a:t>DATA INTEGRITY &amp; TRIAL STRUCTURE</a:t>
            </a:r>
            <a:endParaRPr lang="en-US" sz="950" dirty="0"/>
          </a:p>
        </p:txBody>
      </p:sp>
      <p:sp>
        <p:nvSpPr>
          <p:cNvPr id="3" name="Text 1"/>
          <p:cNvSpPr/>
          <p:nvPr/>
        </p:nvSpPr>
        <p:spPr>
          <a:xfrm>
            <a:off x="507987" y="715879"/>
            <a:ext cx="11175720" cy="398264"/>
          </a:xfrm>
          <a:prstGeom prst="rect">
            <a:avLst/>
          </a:prstGeom>
          <a:noFill/>
          <a:ln/>
        </p:spPr>
        <p:txBody>
          <a:bodyPr wrap="none" lIns="0" tIns="0" rIns="0" bIns="0" rtlCol="0" anchor="t"/>
          <a:lstStyle/>
          <a:p>
            <a:pPr marL="0" indent="0" algn="l">
              <a:lnSpc>
                <a:spcPct val="93000"/>
              </a:lnSpc>
              <a:buNone/>
            </a:pPr>
            <a:r>
              <a:rPr lang="en-US" sz="2800" b="1" kern="100" spc="-14" dirty="0">
                <a:solidFill>
                  <a:srgbClr val="0B1F3A"/>
                </a:solidFill>
                <a:latin typeface="Arimo Bold" pitchFamily="34" charset="0"/>
                <a:ea typeface="Arimo Bold" pitchFamily="34" charset="-122"/>
                <a:cs typeface="Arimo Bold" pitchFamily="34" charset="-120"/>
              </a:rPr>
              <a:t>Groups have equal sizes; baseline comparability is unconfirmed</a:t>
            </a:r>
            <a:endParaRPr lang="en-US" sz="2800" dirty="0"/>
          </a:p>
        </p:txBody>
      </p:sp>
      <p:sp>
        <p:nvSpPr>
          <p:cNvPr id="4" name="Text 2"/>
          <p:cNvSpPr/>
          <p:nvPr/>
        </p:nvSpPr>
        <p:spPr>
          <a:xfrm>
            <a:off x="507987" y="1247874"/>
            <a:ext cx="11683708" cy="144760"/>
          </a:xfrm>
          <a:prstGeom prst="rect">
            <a:avLst/>
          </a:prstGeom>
          <a:noFill/>
          <a:ln/>
        </p:spPr>
        <p:txBody>
          <a:bodyPr wrap="none" lIns="0" tIns="0" rIns="0" bIns="0" rtlCol="0" anchor="t"/>
          <a:lstStyle/>
          <a:p>
            <a:pPr marL="0" indent="0" algn="l">
              <a:lnSpc>
                <a:spcPct val="100000"/>
              </a:lnSpc>
              <a:buNone/>
            </a:pPr>
            <a:r>
              <a:rPr lang="en-US" sz="950" b="1" kern="100" spc="76" dirty="0">
                <a:solidFill>
                  <a:srgbClr val="5B6573"/>
                </a:solidFill>
                <a:latin typeface="Arimo Bold" pitchFamily="34" charset="0"/>
                <a:ea typeface="Arimo Bold" pitchFamily="34" charset="-122"/>
                <a:cs typeface="Arimo Bold" pitchFamily="34" charset="-120"/>
              </a:rPr>
              <a:t>TRIAL STRUCTURE OVERVIEW · 40 PROGRAMS, 2,000 UNIQUE PARTICIPANTS</a:t>
            </a:r>
            <a:endParaRPr lang="en-US" sz="95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07987" y="1430734"/>
          <a:ext cx="11175720" cy="961306"/>
        </p:xfrm>
        <a:graphic>
          <a:graphicData uri="http://schemas.openxmlformats.org/drawingml/2006/table">
            <a:tbl>
              <a:tblPr/>
              <a:tblGrid>
                <a:gridCol w="2011610">
                  <a:extLst>
                    <a:ext uri="{9D8B030D-6E8A-4147-A177-3AD203B41FA5}">
                      <a16:colId xmlns:a16="http://schemas.microsoft.com/office/drawing/2014/main" val="20000"/>
                    </a:ext>
                  </a:extLst>
                </a:gridCol>
                <a:gridCol w="4134937">
                  <a:extLst>
                    <a:ext uri="{9D8B030D-6E8A-4147-A177-3AD203B41FA5}">
                      <a16:colId xmlns:a16="http://schemas.microsoft.com/office/drawing/2014/main" val="20001"/>
                    </a:ext>
                  </a:extLst>
                </a:gridCol>
                <a:gridCol w="1676358">
                  <a:extLst>
                    <a:ext uri="{9D8B030D-6E8A-4147-A177-3AD203B41FA5}">
                      <a16:colId xmlns:a16="http://schemas.microsoft.com/office/drawing/2014/main" val="20002"/>
                    </a:ext>
                  </a:extLst>
                </a:gridCol>
                <a:gridCol w="1676358">
                  <a:extLst>
                    <a:ext uri="{9D8B030D-6E8A-4147-A177-3AD203B41FA5}">
                      <a16:colId xmlns:a16="http://schemas.microsoft.com/office/drawing/2014/main" val="20003"/>
                    </a:ext>
                  </a:extLst>
                </a:gridCol>
                <a:gridCol w="1676457">
                  <a:extLst>
                    <a:ext uri="{9D8B030D-6E8A-4147-A177-3AD203B41FA5}">
                      <a16:colId xmlns:a16="http://schemas.microsoft.com/office/drawing/2014/main" val="20004"/>
                    </a:ext>
                  </a:extLst>
                </a:gridCol>
              </a:tblGrid>
              <a:tr h="322552">
                <a:tc>
                  <a:txBody>
                    <a:bodyPr/>
                    <a:lstStyle/>
                    <a:p>
                      <a:pPr marL="0" indent="0" algn="l">
                        <a:buNone/>
                      </a:pPr>
                      <a:r>
                        <a:rPr lang="en-US" sz="1300" b="1" dirty="0">
                          <a:solidFill>
                            <a:srgbClr val="FFFFFF"/>
                          </a:solidFill>
                          <a:latin typeface="Archivo Narrow" pitchFamily="34" charset="0"/>
                          <a:ea typeface="Archivo Narrow" pitchFamily="34" charset="-122"/>
                          <a:cs typeface="Archivo Narrow" pitchFamily="34" charset="-120"/>
                        </a:rPr>
                        <a:t>Group</a:t>
                      </a:r>
                      <a:endParaRPr lang="en-US" sz="1300" dirty="0">
                        <a:latin typeface="Archivo Narrow" charset="0"/>
                        <a:ea typeface="Archivo Narrow" charset="0"/>
                        <a:cs typeface="Archivo Narrow" charset="0"/>
                      </a:endParaRPr>
                    </a:p>
                  </a:txBody>
                  <a:tcPr marL="88898" marR="88898" marT="50799" marB="50799" anchor="ctr">
                    <a:lnL w="12700" cap="flat" cmpd="sng" algn="ctr">
                      <a:solidFill>
                        <a:srgbClr val="0B1F3A"/>
                      </a:solidFill>
                      <a:prstDash val="solid"/>
                      <a:round/>
                      <a:headEnd type="none" w="med" len="med"/>
                      <a:tailEnd type="none" w="med" len="med"/>
                    </a:lnL>
                    <a:lnR w="12700" cap="flat" cmpd="sng" algn="ctr">
                      <a:solidFill>
                        <a:srgbClr val="0B1F3A"/>
                      </a:solidFill>
                      <a:prstDash val="solid"/>
                      <a:round/>
                      <a:headEnd type="none" w="med" len="med"/>
                      <a:tailEnd type="none" w="med" len="med"/>
                    </a:lnR>
                    <a:lnT w="12700" cap="flat" cmpd="sng" algn="ctr">
                      <a:solidFill>
                        <a:srgbClr val="0B1F3A"/>
                      </a:solidFill>
                      <a:prstDash val="solid"/>
                      <a:round/>
                      <a:headEnd type="none" w="med" len="med"/>
                      <a:tailEnd type="none" w="med" len="med"/>
                    </a:lnT>
                    <a:lnB w="12700" cap="flat" cmpd="sng" algn="ctr">
                      <a:solidFill>
                        <a:srgbClr val="D5DAE0"/>
                      </a:solidFill>
                      <a:prstDash val="solid"/>
                      <a:round/>
                      <a:headEnd type="none" w="med" len="med"/>
                      <a:tailEnd type="none" w="med" len="med"/>
                    </a:lnB>
                    <a:solidFill>
                      <a:srgbClr val="0B1F3A"/>
                    </a:solidFill>
                  </a:tcPr>
                </a:tc>
                <a:tc>
                  <a:txBody>
                    <a:bodyPr/>
                    <a:lstStyle/>
                    <a:p>
                      <a:pPr marL="0" indent="0" algn="r">
                        <a:buNone/>
                      </a:pPr>
                      <a:r>
                        <a:rPr lang="en-US" sz="1300" b="1" dirty="0">
                          <a:solidFill>
                            <a:srgbClr val="FFFFFF"/>
                          </a:solidFill>
                          <a:latin typeface="Archivo Narrow" pitchFamily="34" charset="0"/>
                          <a:ea typeface="Archivo Narrow" pitchFamily="34" charset="-122"/>
                          <a:cs typeface="Archivo Narrow" pitchFamily="34" charset="-120"/>
                        </a:rPr>
                        <a:t>Delivery</a:t>
                      </a:r>
                      <a:endParaRPr lang="en-US" sz="1300" dirty="0">
                        <a:latin typeface="Archivo Narrow" charset="0"/>
                        <a:ea typeface="Archivo Narrow" charset="0"/>
                        <a:cs typeface="Archivo Narrow" charset="0"/>
                      </a:endParaRPr>
                    </a:p>
                  </a:txBody>
                  <a:tcPr marL="88898" marR="88898" marT="50799" marB="50799" anchor="ctr">
                    <a:lnL w="12700" cap="flat" cmpd="sng" algn="ctr">
                      <a:solidFill>
                        <a:srgbClr val="0B1F3A"/>
                      </a:solidFill>
                      <a:prstDash val="solid"/>
                      <a:round/>
                      <a:headEnd type="none" w="med" len="med"/>
                      <a:tailEnd type="none" w="med" len="med"/>
                    </a:lnL>
                    <a:lnR w="12700" cap="flat" cmpd="sng" algn="ctr">
                      <a:solidFill>
                        <a:srgbClr val="0B1F3A"/>
                      </a:solidFill>
                      <a:prstDash val="solid"/>
                      <a:round/>
                      <a:headEnd type="none" w="med" len="med"/>
                      <a:tailEnd type="none" w="med" len="med"/>
                    </a:lnR>
                    <a:lnT w="12700" cap="flat" cmpd="sng" algn="ctr">
                      <a:solidFill>
                        <a:srgbClr val="0B1F3A"/>
                      </a:solidFill>
                      <a:prstDash val="solid"/>
                      <a:round/>
                      <a:headEnd type="none" w="med" len="med"/>
                      <a:tailEnd type="none" w="med" len="med"/>
                    </a:lnT>
                    <a:lnB w="12700" cap="flat" cmpd="sng" algn="ctr">
                      <a:solidFill>
                        <a:srgbClr val="D5DAE0"/>
                      </a:solidFill>
                      <a:prstDash val="solid"/>
                      <a:round/>
                      <a:headEnd type="none" w="med" len="med"/>
                      <a:tailEnd type="none" w="med" len="med"/>
                    </a:lnB>
                    <a:solidFill>
                      <a:srgbClr val="0B1F3A"/>
                    </a:solidFill>
                  </a:tcPr>
                </a:tc>
                <a:tc>
                  <a:txBody>
                    <a:bodyPr/>
                    <a:lstStyle/>
                    <a:p>
                      <a:pPr marL="0" indent="0" algn="r">
                        <a:buNone/>
                      </a:pPr>
                      <a:r>
                        <a:rPr lang="en-US" sz="1300" b="1" dirty="0">
                          <a:solidFill>
                            <a:srgbClr val="FFFFFF"/>
                          </a:solidFill>
                          <a:latin typeface="Archivo Narrow" pitchFamily="34" charset="0"/>
                          <a:ea typeface="Archivo Narrow" pitchFamily="34" charset="-122"/>
                          <a:cs typeface="Archivo Narrow" pitchFamily="34" charset="-120"/>
                        </a:rPr>
                        <a:t>Programs</a:t>
                      </a:r>
                      <a:endParaRPr lang="en-US" sz="1300" dirty="0">
                        <a:latin typeface="Archivo Narrow" charset="0"/>
                        <a:ea typeface="Archivo Narrow" charset="0"/>
                        <a:cs typeface="Archivo Narrow" charset="0"/>
                      </a:endParaRPr>
                    </a:p>
                  </a:txBody>
                  <a:tcPr marL="88898" marR="88898" marT="50799" marB="50799" anchor="ctr">
                    <a:lnL w="12700" cap="flat" cmpd="sng" algn="ctr">
                      <a:solidFill>
                        <a:srgbClr val="0B1F3A"/>
                      </a:solidFill>
                      <a:prstDash val="solid"/>
                      <a:round/>
                      <a:headEnd type="none" w="med" len="med"/>
                      <a:tailEnd type="none" w="med" len="med"/>
                    </a:lnL>
                    <a:lnR w="12700" cap="flat" cmpd="sng" algn="ctr">
                      <a:solidFill>
                        <a:srgbClr val="0B1F3A"/>
                      </a:solidFill>
                      <a:prstDash val="solid"/>
                      <a:round/>
                      <a:headEnd type="none" w="med" len="med"/>
                      <a:tailEnd type="none" w="med" len="med"/>
                    </a:lnR>
                    <a:lnT w="12700" cap="flat" cmpd="sng" algn="ctr">
                      <a:solidFill>
                        <a:srgbClr val="0B1F3A"/>
                      </a:solidFill>
                      <a:prstDash val="solid"/>
                      <a:round/>
                      <a:headEnd type="none" w="med" len="med"/>
                      <a:tailEnd type="none" w="med" len="med"/>
                    </a:lnT>
                    <a:lnB w="12700" cap="flat" cmpd="sng" algn="ctr">
                      <a:solidFill>
                        <a:srgbClr val="D5DAE0"/>
                      </a:solidFill>
                      <a:prstDash val="solid"/>
                      <a:round/>
                      <a:headEnd type="none" w="med" len="med"/>
                      <a:tailEnd type="none" w="med" len="med"/>
                    </a:lnB>
                    <a:solidFill>
                      <a:srgbClr val="0B1F3A"/>
                    </a:solidFill>
                  </a:tcPr>
                </a:tc>
                <a:tc>
                  <a:txBody>
                    <a:bodyPr/>
                    <a:lstStyle/>
                    <a:p>
                      <a:pPr marL="0" indent="0" algn="r">
                        <a:buNone/>
                      </a:pPr>
                      <a:r>
                        <a:rPr lang="en-US" sz="1300" b="1" dirty="0">
                          <a:solidFill>
                            <a:srgbClr val="FFFFFF"/>
                          </a:solidFill>
                          <a:latin typeface="Archivo Narrow" pitchFamily="34" charset="0"/>
                          <a:ea typeface="Archivo Narrow" pitchFamily="34" charset="-122"/>
                          <a:cs typeface="Archivo Narrow" pitchFamily="34" charset="-120"/>
                        </a:rPr>
                        <a:t>Participants</a:t>
                      </a:r>
                      <a:endParaRPr lang="en-US" sz="1300" dirty="0">
                        <a:latin typeface="Archivo Narrow" charset="0"/>
                        <a:ea typeface="Archivo Narrow" charset="0"/>
                        <a:cs typeface="Archivo Narrow" charset="0"/>
                      </a:endParaRPr>
                    </a:p>
                  </a:txBody>
                  <a:tcPr marL="88898" marR="88898" marT="50799" marB="50799" anchor="ctr">
                    <a:lnL w="12700" cap="flat" cmpd="sng" algn="ctr">
                      <a:solidFill>
                        <a:srgbClr val="0B1F3A"/>
                      </a:solidFill>
                      <a:prstDash val="solid"/>
                      <a:round/>
                      <a:headEnd type="none" w="med" len="med"/>
                      <a:tailEnd type="none" w="med" len="med"/>
                    </a:lnL>
                    <a:lnR w="12700" cap="flat" cmpd="sng" algn="ctr">
                      <a:solidFill>
                        <a:srgbClr val="0B1F3A"/>
                      </a:solidFill>
                      <a:prstDash val="solid"/>
                      <a:round/>
                      <a:headEnd type="none" w="med" len="med"/>
                      <a:tailEnd type="none" w="med" len="med"/>
                    </a:lnR>
                    <a:lnT w="12700" cap="flat" cmpd="sng" algn="ctr">
                      <a:solidFill>
                        <a:srgbClr val="0B1F3A"/>
                      </a:solidFill>
                      <a:prstDash val="solid"/>
                      <a:round/>
                      <a:headEnd type="none" w="med" len="med"/>
                      <a:tailEnd type="none" w="med" len="med"/>
                    </a:lnT>
                    <a:lnB w="12700" cap="flat" cmpd="sng" algn="ctr">
                      <a:solidFill>
                        <a:srgbClr val="D5DAE0"/>
                      </a:solidFill>
                      <a:prstDash val="solid"/>
                      <a:round/>
                      <a:headEnd type="none" w="med" len="med"/>
                      <a:tailEnd type="none" w="med" len="med"/>
                    </a:lnB>
                    <a:solidFill>
                      <a:srgbClr val="0B1F3A"/>
                    </a:solidFill>
                  </a:tcPr>
                </a:tc>
                <a:tc>
                  <a:txBody>
                    <a:bodyPr/>
                    <a:lstStyle/>
                    <a:p>
                      <a:pPr marL="0" indent="0" algn="r">
                        <a:buNone/>
                      </a:pPr>
                      <a:r>
                        <a:rPr lang="en-US" sz="1300" b="1" dirty="0">
                          <a:solidFill>
                            <a:srgbClr val="FFFFFF"/>
                          </a:solidFill>
                          <a:latin typeface="Archivo Narrow" pitchFamily="34" charset="0"/>
                          <a:ea typeface="Archivo Narrow" pitchFamily="34" charset="-122"/>
                          <a:cs typeface="Archivo Narrow" pitchFamily="34" charset="-120"/>
                        </a:rPr>
                        <a:t>Per program</a:t>
                      </a:r>
                      <a:endParaRPr lang="en-US" sz="1300" dirty="0">
                        <a:latin typeface="Archivo Narrow" charset="0"/>
                        <a:ea typeface="Archivo Narrow" charset="0"/>
                        <a:cs typeface="Archivo Narrow" charset="0"/>
                      </a:endParaRPr>
                    </a:p>
                  </a:txBody>
                  <a:tcPr marL="88898" marR="88898" marT="50799" marB="50799" anchor="ctr">
                    <a:lnL w="12700" cap="flat" cmpd="sng" algn="ctr">
                      <a:solidFill>
                        <a:srgbClr val="0B1F3A"/>
                      </a:solidFill>
                      <a:prstDash val="solid"/>
                      <a:round/>
                      <a:headEnd type="none" w="med" len="med"/>
                      <a:tailEnd type="none" w="med" len="med"/>
                    </a:lnL>
                    <a:lnR w="12700" cap="flat" cmpd="sng" algn="ctr">
                      <a:solidFill>
                        <a:srgbClr val="0B1F3A"/>
                      </a:solidFill>
                      <a:prstDash val="solid"/>
                      <a:round/>
                      <a:headEnd type="none" w="med" len="med"/>
                      <a:tailEnd type="none" w="med" len="med"/>
                    </a:lnR>
                    <a:lnT w="12700" cap="flat" cmpd="sng" algn="ctr">
                      <a:solidFill>
                        <a:srgbClr val="0B1F3A"/>
                      </a:solidFill>
                      <a:prstDash val="solid"/>
                      <a:round/>
                      <a:headEnd type="none" w="med" len="med"/>
                      <a:tailEnd type="none" w="med" len="med"/>
                    </a:lnT>
                    <a:lnB w="12700" cap="flat" cmpd="sng" algn="ctr">
                      <a:solidFill>
                        <a:srgbClr val="D5DAE0"/>
                      </a:solidFill>
                      <a:prstDash val="solid"/>
                      <a:round/>
                      <a:headEnd type="none" w="med" len="med"/>
                      <a:tailEnd type="none" w="med" len="med"/>
                    </a:lnB>
                    <a:solidFill>
                      <a:srgbClr val="0B1F3A"/>
                    </a:solidFill>
                  </a:tcPr>
                </a:tc>
                <a:extLst>
                  <a:ext uri="{0D108BD9-81ED-4DB2-BD59-A6C34878D82A}">
                    <a16:rowId xmlns:a16="http://schemas.microsoft.com/office/drawing/2014/main" val="10000"/>
                  </a:ext>
                </a:extLst>
              </a:tr>
              <a:tr h="322552">
                <a:tc>
                  <a:txBody>
                    <a:bodyPr/>
                    <a:lstStyle/>
                    <a:p>
                      <a:pPr marL="0" indent="0" algn="l">
                        <a:buNone/>
                      </a:pPr>
                      <a:r>
                        <a:rPr lang="en-US" sz="1300" b="1" dirty="0">
                          <a:solidFill>
                            <a:srgbClr val="2B2F36"/>
                          </a:solidFill>
                          <a:latin typeface="Archivo Narrow" pitchFamily="34" charset="0"/>
                          <a:ea typeface="Archivo Narrow" pitchFamily="34" charset="-122"/>
                          <a:cs typeface="Archivo Narrow" pitchFamily="34" charset="-120"/>
                        </a:rPr>
                        <a:t>Control</a:t>
                      </a:r>
                      <a:endParaRPr lang="en-US" sz="1300" dirty="0">
                        <a:latin typeface="Archivo Narrow" charset="0"/>
                        <a:ea typeface="Archivo Narrow" charset="0"/>
                        <a:cs typeface="Archivo Narrow" charset="0"/>
                      </a:endParaRPr>
                    </a:p>
                  </a:txBody>
                  <a:tcPr marL="88898" marR="88898" marT="50799" marB="50799" anchor="ctr">
                    <a:lnL w="12700" cap="flat" cmpd="sng" algn="ctr">
                      <a:solidFill>
                        <a:srgbClr val="F2F4F6"/>
                      </a:solidFill>
                      <a:prstDash val="solid"/>
                      <a:round/>
                      <a:headEnd type="none" w="med" len="med"/>
                      <a:tailEnd type="none" w="med" len="med"/>
                    </a:lnL>
                    <a:lnR w="12700" cap="flat" cmpd="sng" algn="ctr">
                      <a:solidFill>
                        <a:srgbClr val="F2F4F6"/>
                      </a:solidFill>
                      <a:prstDash val="solid"/>
                      <a:round/>
                      <a:headEnd type="none" w="med" len="med"/>
                      <a:tailEnd type="none" w="med" len="med"/>
                    </a:lnR>
                    <a:lnT w="12700" cap="flat" cmpd="sng" algn="ctr">
                      <a:solidFill>
                        <a:srgbClr val="D5DAE0"/>
                      </a:solidFill>
                      <a:prstDash val="solid"/>
                      <a:round/>
                      <a:headEnd type="none" w="med" len="med"/>
                      <a:tailEnd type="none" w="med" len="med"/>
                    </a:lnT>
                    <a:lnB w="12700" cap="flat" cmpd="sng" algn="ctr">
                      <a:solidFill>
                        <a:srgbClr val="D5DAE0"/>
                      </a:solidFill>
                      <a:prstDash val="solid"/>
                      <a:round/>
                      <a:headEnd type="none" w="med" len="med"/>
                      <a:tailEnd type="none" w="med" len="med"/>
                    </a:lnB>
                    <a:solidFill>
                      <a:srgbClr val="F2F4F6"/>
                    </a:solidFill>
                  </a:tcPr>
                </a:tc>
                <a:tc>
                  <a:txBody>
                    <a:bodyPr/>
                    <a:lstStyle/>
                    <a:p>
                      <a:pPr marL="0" indent="0" algn="r">
                        <a:buNone/>
                      </a:pPr>
                      <a:r>
                        <a:rPr lang="en-US" sz="1300" dirty="0">
                          <a:solidFill>
                            <a:srgbClr val="2B2F36"/>
                          </a:solidFill>
                          <a:latin typeface="Archivo Narrow" pitchFamily="34" charset="0"/>
                          <a:ea typeface="Archivo Narrow" pitchFamily="34" charset="-122"/>
                          <a:cs typeface="Archivo Narrow" pitchFamily="34" charset="-120"/>
                        </a:rPr>
                        <a:t>Usual program without mentor add-on</a:t>
                      </a:r>
                      <a:endParaRPr lang="en-US" sz="1300" dirty="0">
                        <a:latin typeface="Archivo Narrow" charset="0"/>
                        <a:ea typeface="Archivo Narrow" charset="0"/>
                        <a:cs typeface="Archivo Narrow" charset="0"/>
                      </a:endParaRPr>
                    </a:p>
                  </a:txBody>
                  <a:tcPr marL="88898" marR="88898" marT="50799" marB="50799" anchor="ctr">
                    <a:lnL w="12700" cap="flat" cmpd="sng" algn="ctr">
                      <a:solidFill>
                        <a:srgbClr val="F2F4F6"/>
                      </a:solidFill>
                      <a:prstDash val="solid"/>
                      <a:round/>
                      <a:headEnd type="none" w="med" len="med"/>
                      <a:tailEnd type="none" w="med" len="med"/>
                    </a:lnL>
                    <a:lnR w="12700" cap="flat" cmpd="sng" algn="ctr">
                      <a:solidFill>
                        <a:srgbClr val="F2F4F6"/>
                      </a:solidFill>
                      <a:prstDash val="solid"/>
                      <a:round/>
                      <a:headEnd type="none" w="med" len="med"/>
                      <a:tailEnd type="none" w="med" len="med"/>
                    </a:lnR>
                    <a:lnT w="12700" cap="flat" cmpd="sng" algn="ctr">
                      <a:solidFill>
                        <a:srgbClr val="D5DAE0"/>
                      </a:solidFill>
                      <a:prstDash val="solid"/>
                      <a:round/>
                      <a:headEnd type="none" w="med" len="med"/>
                      <a:tailEnd type="none" w="med" len="med"/>
                    </a:lnT>
                    <a:lnB w="12700" cap="flat" cmpd="sng" algn="ctr">
                      <a:solidFill>
                        <a:srgbClr val="D5DAE0"/>
                      </a:solidFill>
                      <a:prstDash val="solid"/>
                      <a:round/>
                      <a:headEnd type="none" w="med" len="med"/>
                      <a:tailEnd type="none" w="med" len="med"/>
                    </a:lnB>
                    <a:solidFill>
                      <a:srgbClr val="F2F4F6"/>
                    </a:solidFill>
                  </a:tcPr>
                </a:tc>
                <a:tc>
                  <a:txBody>
                    <a:bodyPr/>
                    <a:lstStyle/>
                    <a:p>
                      <a:pPr marL="0" indent="0" algn="r">
                        <a:buNone/>
                      </a:pPr>
                      <a:r>
                        <a:rPr lang="en-US" sz="1300" dirty="0">
                          <a:solidFill>
                            <a:srgbClr val="2B2F36"/>
                          </a:solidFill>
                          <a:latin typeface="Archivo Narrow" pitchFamily="34" charset="0"/>
                          <a:ea typeface="Archivo Narrow" pitchFamily="34" charset="-122"/>
                          <a:cs typeface="Archivo Narrow" pitchFamily="34" charset="-120"/>
                        </a:rPr>
                        <a:t>20</a:t>
                      </a:r>
                      <a:endParaRPr lang="en-US" sz="1300" dirty="0">
                        <a:latin typeface="Archivo Narrow" charset="0"/>
                        <a:ea typeface="Archivo Narrow" charset="0"/>
                        <a:cs typeface="Archivo Narrow" charset="0"/>
                      </a:endParaRPr>
                    </a:p>
                  </a:txBody>
                  <a:tcPr marL="88898" marR="88898" marT="50799" marB="50799" anchor="ctr">
                    <a:lnL w="12700" cap="flat" cmpd="sng" algn="ctr">
                      <a:solidFill>
                        <a:srgbClr val="F2F4F6"/>
                      </a:solidFill>
                      <a:prstDash val="solid"/>
                      <a:round/>
                      <a:headEnd type="none" w="med" len="med"/>
                      <a:tailEnd type="none" w="med" len="med"/>
                    </a:lnL>
                    <a:lnR w="12700" cap="flat" cmpd="sng" algn="ctr">
                      <a:solidFill>
                        <a:srgbClr val="F2F4F6"/>
                      </a:solidFill>
                      <a:prstDash val="solid"/>
                      <a:round/>
                      <a:headEnd type="none" w="med" len="med"/>
                      <a:tailEnd type="none" w="med" len="med"/>
                    </a:lnR>
                    <a:lnT w="12700" cap="flat" cmpd="sng" algn="ctr">
                      <a:solidFill>
                        <a:srgbClr val="D5DAE0"/>
                      </a:solidFill>
                      <a:prstDash val="solid"/>
                      <a:round/>
                      <a:headEnd type="none" w="med" len="med"/>
                      <a:tailEnd type="none" w="med" len="med"/>
                    </a:lnT>
                    <a:lnB w="12700" cap="flat" cmpd="sng" algn="ctr">
                      <a:solidFill>
                        <a:srgbClr val="D5DAE0"/>
                      </a:solidFill>
                      <a:prstDash val="solid"/>
                      <a:round/>
                      <a:headEnd type="none" w="med" len="med"/>
                      <a:tailEnd type="none" w="med" len="med"/>
                    </a:lnB>
                    <a:solidFill>
                      <a:srgbClr val="F2F4F6"/>
                    </a:solidFill>
                  </a:tcPr>
                </a:tc>
                <a:tc>
                  <a:txBody>
                    <a:bodyPr/>
                    <a:lstStyle/>
                    <a:p>
                      <a:pPr marL="0" indent="0" algn="r">
                        <a:buNone/>
                      </a:pPr>
                      <a:r>
                        <a:rPr lang="en-US" sz="1300" dirty="0">
                          <a:solidFill>
                            <a:srgbClr val="2B2F36"/>
                          </a:solidFill>
                          <a:latin typeface="Archivo Narrow" pitchFamily="34" charset="0"/>
                          <a:ea typeface="Archivo Narrow" pitchFamily="34" charset="-122"/>
                          <a:cs typeface="Archivo Narrow" pitchFamily="34" charset="-120"/>
                        </a:rPr>
                        <a:t>1,000</a:t>
                      </a:r>
                      <a:endParaRPr lang="en-US" sz="1300" dirty="0">
                        <a:latin typeface="Archivo Narrow" charset="0"/>
                        <a:ea typeface="Archivo Narrow" charset="0"/>
                        <a:cs typeface="Archivo Narrow" charset="0"/>
                      </a:endParaRPr>
                    </a:p>
                  </a:txBody>
                  <a:tcPr marL="88898" marR="88898" marT="50799" marB="50799" anchor="ctr">
                    <a:lnL w="12700" cap="flat" cmpd="sng" algn="ctr">
                      <a:solidFill>
                        <a:srgbClr val="F2F4F6"/>
                      </a:solidFill>
                      <a:prstDash val="solid"/>
                      <a:round/>
                      <a:headEnd type="none" w="med" len="med"/>
                      <a:tailEnd type="none" w="med" len="med"/>
                    </a:lnL>
                    <a:lnR w="12700" cap="flat" cmpd="sng" algn="ctr">
                      <a:solidFill>
                        <a:srgbClr val="F2F4F6"/>
                      </a:solidFill>
                      <a:prstDash val="solid"/>
                      <a:round/>
                      <a:headEnd type="none" w="med" len="med"/>
                      <a:tailEnd type="none" w="med" len="med"/>
                    </a:lnR>
                    <a:lnT w="12700" cap="flat" cmpd="sng" algn="ctr">
                      <a:solidFill>
                        <a:srgbClr val="D5DAE0"/>
                      </a:solidFill>
                      <a:prstDash val="solid"/>
                      <a:round/>
                      <a:headEnd type="none" w="med" len="med"/>
                      <a:tailEnd type="none" w="med" len="med"/>
                    </a:lnT>
                    <a:lnB w="12700" cap="flat" cmpd="sng" algn="ctr">
                      <a:solidFill>
                        <a:srgbClr val="D5DAE0"/>
                      </a:solidFill>
                      <a:prstDash val="solid"/>
                      <a:round/>
                      <a:headEnd type="none" w="med" len="med"/>
                      <a:tailEnd type="none" w="med" len="med"/>
                    </a:lnB>
                    <a:solidFill>
                      <a:srgbClr val="F2F4F6"/>
                    </a:solidFill>
                  </a:tcPr>
                </a:tc>
                <a:tc>
                  <a:txBody>
                    <a:bodyPr/>
                    <a:lstStyle/>
                    <a:p>
                      <a:pPr marL="0" indent="0" algn="r">
                        <a:buNone/>
                      </a:pPr>
                      <a:r>
                        <a:rPr lang="en-US" sz="1300" dirty="0">
                          <a:solidFill>
                            <a:srgbClr val="2B2F36"/>
                          </a:solidFill>
                          <a:latin typeface="Archivo Narrow" pitchFamily="34" charset="0"/>
                          <a:ea typeface="Archivo Narrow" pitchFamily="34" charset="-122"/>
                          <a:cs typeface="Archivo Narrow" pitchFamily="34" charset="-120"/>
                        </a:rPr>
                        <a:t>50</a:t>
                      </a:r>
                      <a:endParaRPr lang="en-US" sz="1300" dirty="0">
                        <a:latin typeface="Archivo Narrow" charset="0"/>
                        <a:ea typeface="Archivo Narrow" charset="0"/>
                        <a:cs typeface="Archivo Narrow" charset="0"/>
                      </a:endParaRPr>
                    </a:p>
                  </a:txBody>
                  <a:tcPr marL="88898" marR="88898" marT="50799" marB="50799" anchor="ctr">
                    <a:lnL w="12700" cap="flat" cmpd="sng" algn="ctr">
                      <a:solidFill>
                        <a:srgbClr val="F2F4F6"/>
                      </a:solidFill>
                      <a:prstDash val="solid"/>
                      <a:round/>
                      <a:headEnd type="none" w="med" len="med"/>
                      <a:tailEnd type="none" w="med" len="med"/>
                    </a:lnL>
                    <a:lnR w="12700" cap="flat" cmpd="sng" algn="ctr">
                      <a:solidFill>
                        <a:srgbClr val="F2F4F6"/>
                      </a:solidFill>
                      <a:prstDash val="solid"/>
                      <a:round/>
                      <a:headEnd type="none" w="med" len="med"/>
                      <a:tailEnd type="none" w="med" len="med"/>
                    </a:lnR>
                    <a:lnT w="12700" cap="flat" cmpd="sng" algn="ctr">
                      <a:solidFill>
                        <a:srgbClr val="D5DAE0"/>
                      </a:solidFill>
                      <a:prstDash val="solid"/>
                      <a:round/>
                      <a:headEnd type="none" w="med" len="med"/>
                      <a:tailEnd type="none" w="med" len="med"/>
                    </a:lnT>
                    <a:lnB w="12700" cap="flat" cmpd="sng" algn="ctr">
                      <a:solidFill>
                        <a:srgbClr val="D5DAE0"/>
                      </a:solidFill>
                      <a:prstDash val="solid"/>
                      <a:round/>
                      <a:headEnd type="none" w="med" len="med"/>
                      <a:tailEnd type="none" w="med" len="med"/>
                    </a:lnB>
                    <a:solidFill>
                      <a:srgbClr val="F2F4F6"/>
                    </a:solidFill>
                  </a:tcPr>
                </a:tc>
                <a:extLst>
                  <a:ext uri="{0D108BD9-81ED-4DB2-BD59-A6C34878D82A}">
                    <a16:rowId xmlns:a16="http://schemas.microsoft.com/office/drawing/2014/main" val="10001"/>
                  </a:ext>
                </a:extLst>
              </a:tr>
              <a:tr h="316202">
                <a:tc>
                  <a:txBody>
                    <a:bodyPr/>
                    <a:lstStyle/>
                    <a:p>
                      <a:pPr marL="0" indent="0" algn="l">
                        <a:buNone/>
                      </a:pPr>
                      <a:r>
                        <a:rPr lang="en-US" sz="1300" b="1" dirty="0">
                          <a:solidFill>
                            <a:srgbClr val="2B2F36"/>
                          </a:solidFill>
                          <a:latin typeface="Archivo Narrow" pitchFamily="34" charset="0"/>
                          <a:ea typeface="Archivo Narrow" pitchFamily="34" charset="-122"/>
                          <a:cs typeface="Archivo Narrow" pitchFamily="34" charset="-120"/>
                        </a:rPr>
                        <a:t>Mentor (Variant)</a:t>
                      </a:r>
                      <a:endParaRPr lang="en-US" sz="1300" dirty="0">
                        <a:latin typeface="Archivo Narrow" charset="0"/>
                        <a:ea typeface="Archivo Narrow" charset="0"/>
                        <a:cs typeface="Archivo Narrow" charset="0"/>
                      </a:endParaRPr>
                    </a:p>
                  </a:txBody>
                  <a:tcPr marL="88898" marR="88898" marT="50799" marB="50799"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D5DAE0"/>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marL="0" indent="0" algn="r">
                        <a:buNone/>
                      </a:pPr>
                      <a:r>
                        <a:rPr lang="en-US" sz="1300" dirty="0">
                          <a:solidFill>
                            <a:srgbClr val="2B2F36"/>
                          </a:solidFill>
                          <a:latin typeface="Archivo Narrow" pitchFamily="34" charset="0"/>
                          <a:ea typeface="Archivo Narrow" pitchFamily="34" charset="-122"/>
                          <a:cs typeface="Archivo Narrow" pitchFamily="34" charset="-120"/>
                        </a:rPr>
                        <a:t>Usual program plus mentor add-on</a:t>
                      </a:r>
                      <a:endParaRPr lang="en-US" sz="1300" dirty="0">
                        <a:latin typeface="Archivo Narrow" charset="0"/>
                        <a:ea typeface="Archivo Narrow" charset="0"/>
                        <a:cs typeface="Archivo Narrow" charset="0"/>
                      </a:endParaRPr>
                    </a:p>
                  </a:txBody>
                  <a:tcPr marL="88898" marR="88898" marT="50799" marB="50799"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D5DAE0"/>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marL="0" indent="0" algn="r">
                        <a:buNone/>
                      </a:pPr>
                      <a:r>
                        <a:rPr lang="en-US" sz="1300" dirty="0">
                          <a:solidFill>
                            <a:srgbClr val="2B2F36"/>
                          </a:solidFill>
                          <a:latin typeface="Archivo Narrow" pitchFamily="34" charset="0"/>
                          <a:ea typeface="Archivo Narrow" pitchFamily="34" charset="-122"/>
                          <a:cs typeface="Archivo Narrow" pitchFamily="34" charset="-120"/>
                        </a:rPr>
                        <a:t>20</a:t>
                      </a:r>
                      <a:endParaRPr lang="en-US" sz="1300" dirty="0">
                        <a:latin typeface="Archivo Narrow" charset="0"/>
                        <a:ea typeface="Archivo Narrow" charset="0"/>
                        <a:cs typeface="Archivo Narrow" charset="0"/>
                      </a:endParaRPr>
                    </a:p>
                  </a:txBody>
                  <a:tcPr marL="88898" marR="88898" marT="50799" marB="50799"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D5DAE0"/>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marL="0" indent="0" algn="r">
                        <a:buNone/>
                      </a:pPr>
                      <a:r>
                        <a:rPr lang="en-US" sz="1300" dirty="0">
                          <a:solidFill>
                            <a:srgbClr val="2B2F36"/>
                          </a:solidFill>
                          <a:latin typeface="Archivo Narrow" pitchFamily="34" charset="0"/>
                          <a:ea typeface="Archivo Narrow" pitchFamily="34" charset="-122"/>
                          <a:cs typeface="Archivo Narrow" pitchFamily="34" charset="-120"/>
                        </a:rPr>
                        <a:t>1,000</a:t>
                      </a:r>
                      <a:endParaRPr lang="en-US" sz="1300" dirty="0">
                        <a:latin typeface="Archivo Narrow" charset="0"/>
                        <a:ea typeface="Archivo Narrow" charset="0"/>
                        <a:cs typeface="Archivo Narrow" charset="0"/>
                      </a:endParaRPr>
                    </a:p>
                  </a:txBody>
                  <a:tcPr marL="88898" marR="88898" marT="50799" marB="50799"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D5DAE0"/>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marL="0" indent="0" algn="r">
                        <a:buNone/>
                      </a:pPr>
                      <a:r>
                        <a:rPr lang="en-US" sz="1300" dirty="0">
                          <a:solidFill>
                            <a:srgbClr val="2B2F36"/>
                          </a:solidFill>
                          <a:latin typeface="Archivo Narrow" pitchFamily="34" charset="0"/>
                          <a:ea typeface="Archivo Narrow" pitchFamily="34" charset="-122"/>
                          <a:cs typeface="Archivo Narrow" pitchFamily="34" charset="-120"/>
                        </a:rPr>
                        <a:t>50</a:t>
                      </a:r>
                      <a:endParaRPr lang="en-US" sz="1300" dirty="0">
                        <a:latin typeface="Archivo Narrow" charset="0"/>
                        <a:ea typeface="Archivo Narrow" charset="0"/>
                        <a:cs typeface="Archivo Narrow" charset="0"/>
                      </a:endParaRPr>
                    </a:p>
                  </a:txBody>
                  <a:tcPr marL="88898" marR="88898" marT="50799" marB="50799"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D5DAE0"/>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
        <p:nvSpPr>
          <p:cNvPr id="6" name="Shape 3"/>
          <p:cNvSpPr/>
          <p:nvPr/>
        </p:nvSpPr>
        <p:spPr>
          <a:xfrm>
            <a:off x="507987" y="2430165"/>
            <a:ext cx="3623577" cy="38100"/>
          </a:xfrm>
          <a:prstGeom prst="rect">
            <a:avLst/>
          </a:prstGeom>
          <a:solidFill>
            <a:srgbClr val="0B1F3A"/>
          </a:solidFill>
          <a:ln/>
        </p:spPr>
        <p:txBody>
          <a:bodyPr/>
          <a:lstStyle/>
          <a:p>
            <a:endParaRPr lang="en-US"/>
          </a:p>
        </p:txBody>
      </p:sp>
      <p:sp>
        <p:nvSpPr>
          <p:cNvPr id="7" name="Text 4"/>
          <p:cNvSpPr/>
          <p:nvPr/>
        </p:nvSpPr>
        <p:spPr>
          <a:xfrm>
            <a:off x="736582" y="2702421"/>
            <a:ext cx="3166388" cy="206375"/>
          </a:xfrm>
          <a:prstGeom prst="rect">
            <a:avLst/>
          </a:prstGeom>
          <a:noFill/>
          <a:ln/>
        </p:spPr>
        <p:txBody>
          <a:bodyPr wrap="none" lIns="0" tIns="0" rIns="0" bIns="0" rtlCol="0" anchor="t"/>
          <a:lstStyle/>
          <a:p>
            <a:pPr marL="0" indent="0" algn="l">
              <a:lnSpc>
                <a:spcPct val="104000"/>
              </a:lnSpc>
              <a:buNone/>
            </a:pPr>
            <a:r>
              <a:rPr lang="en-US" sz="1300" b="1" dirty="0">
                <a:solidFill>
                  <a:srgbClr val="0B1F3A"/>
                </a:solidFill>
                <a:latin typeface="Arimo Bold" pitchFamily="34" charset="0"/>
                <a:ea typeface="Arimo Bold" pitchFamily="34" charset="-122"/>
                <a:cs typeface="Arimo Bold" pitchFamily="34" charset="-120"/>
              </a:rPr>
              <a:t>Cluster design</a:t>
            </a:r>
            <a:endParaRPr lang="en-US" sz="1300" dirty="0"/>
          </a:p>
        </p:txBody>
      </p:sp>
      <p:sp>
        <p:nvSpPr>
          <p:cNvPr id="8" name="Text 5"/>
          <p:cNvSpPr/>
          <p:nvPr/>
        </p:nvSpPr>
        <p:spPr>
          <a:xfrm>
            <a:off x="736582" y="3008332"/>
            <a:ext cx="3166388" cy="1073051"/>
          </a:xfrm>
          <a:prstGeom prst="rect">
            <a:avLst/>
          </a:prstGeom>
          <a:noFill/>
          <a:ln/>
        </p:spPr>
        <p:txBody>
          <a:bodyPr wrap="square" lIns="0" tIns="0" rIns="0" bIns="0" rtlCol="0" anchor="t">
            <a:normAutofit/>
          </a:bodyPr>
          <a:lstStyle/>
          <a:p>
            <a:pPr marL="0" indent="0" algn="l">
              <a:lnSpc>
                <a:spcPct val="108000"/>
              </a:lnSpc>
              <a:buNone/>
            </a:pPr>
            <a:r>
              <a:rPr lang="en-US" sz="1300" dirty="0">
                <a:solidFill>
                  <a:srgbClr val="2B2F36"/>
                </a:solidFill>
                <a:latin typeface="Arimo" pitchFamily="34" charset="0"/>
                <a:ea typeface="Arimo" pitchFamily="34" charset="-122"/>
                <a:cs typeface="Arimo" pitchFamily="34" charset="-120"/>
              </a:rPr>
              <a:t>Each program sits wholly in one group. Participants share program conditions, so their results may be correlated. Assignment method is unconfirmed. Randomisation is not documented.</a:t>
            </a:r>
            <a:endParaRPr lang="en-US" sz="1300" dirty="0"/>
          </a:p>
        </p:txBody>
      </p:sp>
      <p:sp>
        <p:nvSpPr>
          <p:cNvPr id="9" name="Shape 6"/>
          <p:cNvSpPr/>
          <p:nvPr/>
        </p:nvSpPr>
        <p:spPr>
          <a:xfrm>
            <a:off x="4283960" y="2430165"/>
            <a:ext cx="3623676" cy="38100"/>
          </a:xfrm>
          <a:prstGeom prst="rect">
            <a:avLst/>
          </a:prstGeom>
          <a:solidFill>
            <a:srgbClr val="0B1F3A"/>
          </a:solidFill>
          <a:ln/>
        </p:spPr>
        <p:txBody>
          <a:bodyPr/>
          <a:lstStyle/>
          <a:p>
            <a:endParaRPr lang="en-US"/>
          </a:p>
        </p:txBody>
      </p:sp>
      <p:sp>
        <p:nvSpPr>
          <p:cNvPr id="10" name="Text 7"/>
          <p:cNvSpPr/>
          <p:nvPr/>
        </p:nvSpPr>
        <p:spPr>
          <a:xfrm>
            <a:off x="4512554" y="2702421"/>
            <a:ext cx="3166487" cy="206375"/>
          </a:xfrm>
          <a:prstGeom prst="rect">
            <a:avLst/>
          </a:prstGeom>
          <a:noFill/>
          <a:ln/>
        </p:spPr>
        <p:txBody>
          <a:bodyPr wrap="none" lIns="0" tIns="0" rIns="0" bIns="0" rtlCol="0" anchor="t"/>
          <a:lstStyle/>
          <a:p>
            <a:pPr marL="0" indent="0" algn="l">
              <a:lnSpc>
                <a:spcPct val="104000"/>
              </a:lnSpc>
              <a:buNone/>
            </a:pPr>
            <a:r>
              <a:rPr lang="en-US" sz="1300" b="1" dirty="0">
                <a:solidFill>
                  <a:srgbClr val="0B1F3A"/>
                </a:solidFill>
                <a:latin typeface="Arimo Bold" pitchFamily="34" charset="0"/>
                <a:ea typeface="Arimo Bold" pitchFamily="34" charset="-122"/>
                <a:cs typeface="Arimo Bold" pitchFamily="34" charset="-120"/>
              </a:rPr>
              <a:t>Data checks</a:t>
            </a:r>
            <a:endParaRPr lang="en-US" sz="1300" dirty="0"/>
          </a:p>
        </p:txBody>
      </p:sp>
      <p:sp>
        <p:nvSpPr>
          <p:cNvPr id="11" name="Text 8"/>
          <p:cNvSpPr/>
          <p:nvPr/>
        </p:nvSpPr>
        <p:spPr>
          <a:xfrm>
            <a:off x="4512554" y="3008332"/>
            <a:ext cx="3166487" cy="858441"/>
          </a:xfrm>
          <a:prstGeom prst="rect">
            <a:avLst/>
          </a:prstGeom>
          <a:noFill/>
          <a:ln/>
        </p:spPr>
        <p:txBody>
          <a:bodyPr wrap="square" lIns="0" tIns="0" rIns="0" bIns="0" rtlCol="0" anchor="t">
            <a:normAutofit/>
          </a:bodyPr>
          <a:lstStyle/>
          <a:p>
            <a:pPr marL="0" indent="0" algn="l">
              <a:lnSpc>
                <a:spcPct val="108000"/>
              </a:lnSpc>
              <a:buNone/>
            </a:pPr>
            <a:r>
              <a:rPr lang="en-US" sz="1300" dirty="0">
                <a:solidFill>
                  <a:srgbClr val="2B2F36"/>
                </a:solidFill>
                <a:latin typeface="Arimo" pitchFamily="34" charset="0"/>
                <a:ea typeface="Arimo" pitchFamily="34" charset="-122"/>
                <a:cs typeface="Arimo" pitchFamily="34" charset="-120"/>
              </a:rPr>
              <a:t>Checks found no duplicate participant IDs, missing source values, or inconsistencies between group and recorded mentor status.</a:t>
            </a:r>
            <a:endParaRPr lang="en-US" sz="1300" dirty="0"/>
          </a:p>
        </p:txBody>
      </p:sp>
      <p:sp>
        <p:nvSpPr>
          <p:cNvPr id="12" name="Shape 9"/>
          <p:cNvSpPr/>
          <p:nvPr/>
        </p:nvSpPr>
        <p:spPr>
          <a:xfrm>
            <a:off x="8060032" y="2430165"/>
            <a:ext cx="3623676" cy="38100"/>
          </a:xfrm>
          <a:prstGeom prst="rect">
            <a:avLst/>
          </a:prstGeom>
          <a:solidFill>
            <a:srgbClr val="0B1F3A"/>
          </a:solidFill>
          <a:ln/>
        </p:spPr>
        <p:txBody>
          <a:bodyPr/>
          <a:lstStyle/>
          <a:p>
            <a:endParaRPr lang="en-US"/>
          </a:p>
        </p:txBody>
      </p:sp>
      <p:sp>
        <p:nvSpPr>
          <p:cNvPr id="13" name="Text 10"/>
          <p:cNvSpPr/>
          <p:nvPr/>
        </p:nvSpPr>
        <p:spPr>
          <a:xfrm>
            <a:off x="8288626" y="2702421"/>
            <a:ext cx="3166487" cy="206375"/>
          </a:xfrm>
          <a:prstGeom prst="rect">
            <a:avLst/>
          </a:prstGeom>
          <a:noFill/>
          <a:ln/>
        </p:spPr>
        <p:txBody>
          <a:bodyPr wrap="none" lIns="0" tIns="0" rIns="0" bIns="0" rtlCol="0" anchor="t"/>
          <a:lstStyle/>
          <a:p>
            <a:pPr marL="0" indent="0" algn="l">
              <a:lnSpc>
                <a:spcPct val="104000"/>
              </a:lnSpc>
              <a:buNone/>
            </a:pPr>
            <a:r>
              <a:rPr lang="en-US" sz="1300" b="1" dirty="0">
                <a:solidFill>
                  <a:srgbClr val="0B1F3A"/>
                </a:solidFill>
                <a:latin typeface="Arimo Bold" pitchFamily="34" charset="0"/>
                <a:ea typeface="Arimo Bold" pitchFamily="34" charset="-122"/>
                <a:cs typeface="Arimo Bold" pitchFamily="34" charset="-120"/>
              </a:rPr>
              <a:t>Matched pairs</a:t>
            </a:r>
            <a:endParaRPr lang="en-US" sz="1300" dirty="0"/>
          </a:p>
        </p:txBody>
      </p:sp>
      <p:sp>
        <p:nvSpPr>
          <p:cNvPr id="14" name="Text 11"/>
          <p:cNvSpPr/>
          <p:nvPr/>
        </p:nvSpPr>
        <p:spPr>
          <a:xfrm>
            <a:off x="8288626" y="3008332"/>
            <a:ext cx="3166487" cy="643830"/>
          </a:xfrm>
          <a:prstGeom prst="rect">
            <a:avLst/>
          </a:prstGeom>
          <a:noFill/>
          <a:ln/>
        </p:spPr>
        <p:txBody>
          <a:bodyPr wrap="square" lIns="0" tIns="0" rIns="0" bIns="0" rtlCol="0" anchor="t">
            <a:normAutofit/>
          </a:bodyPr>
          <a:lstStyle/>
          <a:p>
            <a:pPr marL="0" indent="0" algn="l">
              <a:lnSpc>
                <a:spcPct val="108000"/>
              </a:lnSpc>
              <a:buNone/>
            </a:pPr>
            <a:r>
              <a:rPr lang="en-US" sz="1300" dirty="0">
                <a:solidFill>
                  <a:srgbClr val="2B2F36"/>
                </a:solidFill>
                <a:latin typeface="Arimo" pitchFamily="34" charset="0"/>
                <a:ea typeface="Arimo" pitchFamily="34" charset="-122"/>
                <a:cs typeface="Arimo" pitchFamily="34" charset="-120"/>
              </a:rPr>
              <a:t>Program IDs do not establish matched pairs. Equal counts do not establish comparability.</a:t>
            </a:r>
            <a:endParaRPr lang="en-US" sz="1300" dirty="0"/>
          </a:p>
        </p:txBody>
      </p:sp>
      <p:sp>
        <p:nvSpPr>
          <p:cNvPr id="15" name="Text 12"/>
          <p:cNvSpPr/>
          <p:nvPr/>
        </p:nvSpPr>
        <p:spPr>
          <a:xfrm>
            <a:off x="507987" y="6180951"/>
            <a:ext cx="11683708" cy="173335"/>
          </a:xfrm>
          <a:prstGeom prst="rect">
            <a:avLst/>
          </a:prstGeom>
          <a:noFill/>
          <a:ln/>
        </p:spPr>
        <p:txBody>
          <a:bodyPr wrap="none" lIns="0" tIns="0" rIns="0" bIns="0" rtlCol="0" anchor="t"/>
          <a:lstStyle/>
          <a:p>
            <a:pPr marL="0" indent="0" algn="l">
              <a:lnSpc>
                <a:spcPct val="108000"/>
              </a:lnSpc>
              <a:buNone/>
            </a:pPr>
            <a:r>
              <a:rPr lang="en-US" sz="1050" dirty="0">
                <a:solidFill>
                  <a:srgbClr val="5B6573"/>
                </a:solidFill>
                <a:latin typeface="Arimo" pitchFamily="34" charset="0"/>
                <a:ea typeface="Arimo" pitchFamily="34" charset="-122"/>
                <a:cs typeface="Arimo" pitchFamily="34" charset="-120"/>
              </a:rPr>
              <a:t>Source: verified Grad_Careers_Mentor_Evaluation.xlsx, Raw Data and Data Checks.</a:t>
            </a:r>
            <a:endParaRPr lang="en-US" sz="1050" dirty="0"/>
          </a:p>
        </p:txBody>
      </p:sp>
      <p:sp>
        <p:nvSpPr>
          <p:cNvPr id="16" name="Text 13"/>
          <p:cNvSpPr/>
          <p:nvPr/>
        </p:nvSpPr>
        <p:spPr>
          <a:xfrm>
            <a:off x="507987" y="6555085"/>
            <a:ext cx="3519598" cy="148530"/>
          </a:xfrm>
          <a:prstGeom prst="rect">
            <a:avLst/>
          </a:prstGeom>
          <a:noFill/>
          <a:ln/>
        </p:spPr>
        <p:txBody>
          <a:bodyPr wrap="none" lIns="0" tIns="0" rIns="0" bIns="0" rtlCol="0" anchor="ctr"/>
          <a:lstStyle/>
          <a:p>
            <a:pPr marL="0" indent="0" algn="l">
              <a:lnSpc>
                <a:spcPct val="108000"/>
              </a:lnSpc>
              <a:buNone/>
            </a:pPr>
            <a:r>
              <a:rPr lang="en-US" sz="900" dirty="0">
                <a:solidFill>
                  <a:srgbClr val="2B2F36"/>
                </a:solidFill>
                <a:latin typeface="Arimo" pitchFamily="34" charset="0"/>
                <a:ea typeface="Arimo" pitchFamily="34" charset="-122"/>
                <a:cs typeface="Arimo" pitchFamily="34" charset="-120"/>
              </a:rPr>
              <a:t>Recommendation: approve a limited, evaluated extension</a:t>
            </a:r>
            <a:endParaRPr lang="en-US" sz="900" dirty="0"/>
          </a:p>
        </p:txBody>
      </p:sp>
      <p:sp>
        <p:nvSpPr>
          <p:cNvPr id="17" name="Text 14"/>
          <p:cNvSpPr/>
          <p:nvPr/>
        </p:nvSpPr>
        <p:spPr>
          <a:xfrm>
            <a:off x="11620209" y="6555085"/>
            <a:ext cx="571486" cy="148530"/>
          </a:xfrm>
          <a:prstGeom prst="rect">
            <a:avLst/>
          </a:prstGeom>
          <a:noFill/>
          <a:ln/>
        </p:spPr>
        <p:txBody>
          <a:bodyPr wrap="none" lIns="0" tIns="0" rIns="0" bIns="0" rtlCol="0" anchor="ctr"/>
          <a:lstStyle/>
          <a:p>
            <a:pPr marL="0" indent="0" algn="l">
              <a:lnSpc>
                <a:spcPct val="108000"/>
              </a:lnSpc>
              <a:buNone/>
            </a:pPr>
            <a:r>
              <a:rPr lang="en-US" sz="900" dirty="0">
                <a:solidFill>
                  <a:srgbClr val="2B2F36"/>
                </a:solidFill>
                <a:latin typeface="Arimo" pitchFamily="34" charset="0"/>
                <a:ea typeface="Arimo" pitchFamily="34" charset="-122"/>
                <a:cs typeface="Arimo"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507987" y="1590774"/>
            <a:ext cx="11175720" cy="6350"/>
          </a:xfrm>
          <a:prstGeom prst="rect">
            <a:avLst/>
          </a:prstGeom>
          <a:solidFill>
            <a:srgbClr val="D5DAE0"/>
          </a:solidFill>
          <a:ln/>
        </p:spPr>
        <p:txBody>
          <a:bodyPr/>
          <a:lstStyle/>
          <a:p>
            <a:endParaRPr lang="en-US"/>
          </a:p>
        </p:txBody>
      </p:sp>
      <p:sp>
        <p:nvSpPr>
          <p:cNvPr id="3" name="Text 1"/>
          <p:cNvSpPr/>
          <p:nvPr/>
        </p:nvSpPr>
        <p:spPr>
          <a:xfrm>
            <a:off x="736582" y="863600"/>
            <a:ext cx="10947126" cy="144760"/>
          </a:xfrm>
          <a:prstGeom prst="rect">
            <a:avLst/>
          </a:prstGeom>
          <a:noFill/>
          <a:ln/>
        </p:spPr>
        <p:txBody>
          <a:bodyPr wrap="none" lIns="0" tIns="0" rIns="0" bIns="0" rtlCol="0" anchor="t"/>
          <a:lstStyle/>
          <a:p>
            <a:pPr marL="0" indent="0" algn="l">
              <a:lnSpc>
                <a:spcPct val="100000"/>
              </a:lnSpc>
              <a:buNone/>
            </a:pPr>
            <a:r>
              <a:rPr lang="en-US" sz="950" b="1" kern="100" spc="76" dirty="0">
                <a:solidFill>
                  <a:srgbClr val="5B6573"/>
                </a:solidFill>
                <a:latin typeface="Arimo Bold" pitchFamily="34" charset="0"/>
                <a:ea typeface="Arimo Bold" pitchFamily="34" charset="-122"/>
                <a:cs typeface="Arimo Bold" pitchFamily="34" charset="-120"/>
              </a:rPr>
              <a:t>COMPARATIVE PERFORMANCE · KEY METRICS</a:t>
            </a:r>
            <a:endParaRPr lang="en-US" sz="950" dirty="0"/>
          </a:p>
        </p:txBody>
      </p:sp>
      <p:sp>
        <p:nvSpPr>
          <p:cNvPr id="4" name="Text 2"/>
          <p:cNvSpPr/>
          <p:nvPr/>
        </p:nvSpPr>
        <p:spPr>
          <a:xfrm>
            <a:off x="736582" y="1071479"/>
            <a:ext cx="10718532" cy="398264"/>
          </a:xfrm>
          <a:prstGeom prst="rect">
            <a:avLst/>
          </a:prstGeom>
          <a:noFill/>
          <a:ln/>
        </p:spPr>
        <p:txBody>
          <a:bodyPr wrap="none" lIns="0" tIns="0" rIns="0" bIns="0" rtlCol="0" anchor="t"/>
          <a:lstStyle/>
          <a:p>
            <a:pPr marL="0" indent="0" algn="l">
              <a:lnSpc>
                <a:spcPct val="93000"/>
              </a:lnSpc>
              <a:buNone/>
            </a:pPr>
            <a:r>
              <a:rPr lang="en-US" sz="2800" b="1" kern="100" spc="-14" dirty="0">
                <a:solidFill>
                  <a:srgbClr val="0B1F3A"/>
                </a:solidFill>
                <a:latin typeface="Arimo Bold" pitchFamily="34" charset="0"/>
                <a:ea typeface="Arimo Bold" pitchFamily="34" charset="-122"/>
                <a:cs typeface="Arimo Bold" pitchFamily="34" charset="-120"/>
              </a:rPr>
              <a:t>Mentor group recorded higher completion and outcome rates</a:t>
            </a:r>
            <a:endParaRPr lang="en-US" sz="2800" dirty="0"/>
          </a:p>
        </p:txBody>
      </p:sp>
      <p:sp>
        <p:nvSpPr>
          <p:cNvPr id="5" name="Text 3"/>
          <p:cNvSpPr/>
          <p:nvPr/>
        </p:nvSpPr>
        <p:spPr>
          <a:xfrm>
            <a:off x="507987" y="1727617"/>
            <a:ext cx="11175720" cy="429220"/>
          </a:xfrm>
          <a:prstGeom prst="rect">
            <a:avLst/>
          </a:prstGeom>
          <a:noFill/>
          <a:ln/>
        </p:spPr>
        <p:txBody>
          <a:bodyPr wrap="square" lIns="0" tIns="0" rIns="0" bIns="0" rtlCol="0" anchor="t">
            <a:normAutofit/>
          </a:bodyPr>
          <a:lstStyle/>
          <a:p>
            <a:pPr marL="0" indent="0" algn="l">
              <a:lnSpc>
                <a:spcPct val="108000"/>
              </a:lnSpc>
              <a:buNone/>
            </a:pPr>
            <a:r>
              <a:rPr lang="en-US" sz="1300" i="1" dirty="0">
                <a:solidFill>
                  <a:srgbClr val="2B2F36"/>
                </a:solidFill>
                <a:latin typeface="Arimo" pitchFamily="34" charset="0"/>
                <a:ea typeface="Arimo" pitchFamily="34" charset="-122"/>
                <a:cs typeface="Arimo" pitchFamily="34" charset="-120"/>
              </a:rPr>
              <a:t>Across equally sized groups of 1,000 participants, mentor rates were 11 percentage points higher for both measures: +19.0% relative lift for completion and +25.0% for recorded outcome.</a:t>
            </a:r>
            <a:endParaRPr lang="en-US" sz="1300" dirty="0"/>
          </a:p>
        </p:txBody>
      </p:sp>
      <p:sp>
        <p:nvSpPr>
          <p:cNvPr id="6" name="Shape 4"/>
          <p:cNvSpPr/>
          <p:nvPr/>
        </p:nvSpPr>
        <p:spPr>
          <a:xfrm>
            <a:off x="507987" y="2280345"/>
            <a:ext cx="6522577" cy="3814961"/>
          </a:xfrm>
          <a:prstGeom prst="rect">
            <a:avLst/>
          </a:prstGeom>
          <a:noFill/>
          <a:ln w="6350">
            <a:solidFill>
              <a:srgbClr val="D5DAE0"/>
            </a:solidFill>
            <a:prstDash val="solid"/>
          </a:ln>
          <a:effectLst>
            <a:outerShdw blurRad="30480" dist="11430" dir="5400000" algn="bl" rotWithShape="0">
              <a:srgbClr val="0B1F3A">
                <a:alpha val="1000"/>
              </a:srgbClr>
            </a:outerShdw>
          </a:effectLst>
        </p:spPr>
        <p:txBody>
          <a:bodyPr/>
          <a:lstStyle/>
          <a:p>
            <a:endParaRPr lang="en-US"/>
          </a:p>
        </p:txBody>
      </p:sp>
      <p:sp>
        <p:nvSpPr>
          <p:cNvPr id="7" name="Text 5"/>
          <p:cNvSpPr/>
          <p:nvPr/>
        </p:nvSpPr>
        <p:spPr>
          <a:xfrm>
            <a:off x="742931" y="2515295"/>
            <a:ext cx="6287633" cy="144760"/>
          </a:xfrm>
          <a:prstGeom prst="rect">
            <a:avLst/>
          </a:prstGeom>
          <a:noFill/>
          <a:ln/>
        </p:spPr>
        <p:txBody>
          <a:bodyPr wrap="none" lIns="0" tIns="0" rIns="0" bIns="0" rtlCol="0" anchor="t"/>
          <a:lstStyle/>
          <a:p>
            <a:pPr marL="0" indent="0" algn="l">
              <a:lnSpc>
                <a:spcPct val="100000"/>
              </a:lnSpc>
              <a:buNone/>
            </a:pPr>
            <a:r>
              <a:rPr lang="en-US" sz="950" b="1" kern="100" spc="76" dirty="0">
                <a:solidFill>
                  <a:srgbClr val="5B6573"/>
                </a:solidFill>
                <a:latin typeface="Arimo Bold" pitchFamily="34" charset="0"/>
                <a:ea typeface="Arimo Bold" pitchFamily="34" charset="-122"/>
                <a:cs typeface="Arimo Bold" pitchFamily="34" charset="-120"/>
              </a:rPr>
              <a:t>RECORDED PARTICIPANT RATES BY GROUP (%)</a:t>
            </a:r>
            <a:endParaRPr lang="en-US" sz="950" dirty="0"/>
          </a:p>
        </p:txBody>
      </p:sp>
      <p:pic>
        <p:nvPicPr>
          <p:cNvPr id="8" name="Image 0" descr="preencoded.png"/>
          <p:cNvPicPr>
            <a:picLocks noChangeAspect="1"/>
          </p:cNvPicPr>
          <p:nvPr/>
        </p:nvPicPr>
        <p:blipFill>
          <a:blip r:embed="rId3"/>
          <a:stretch>
            <a:fillRect/>
          </a:stretch>
        </p:blipFill>
        <p:spPr>
          <a:xfrm>
            <a:off x="742931" y="2742605"/>
            <a:ext cx="5841854" cy="2730500"/>
          </a:xfrm>
          <a:prstGeom prst="rect">
            <a:avLst/>
          </a:prstGeom>
        </p:spPr>
      </p:pic>
      <p:sp>
        <p:nvSpPr>
          <p:cNvPr id="9" name="Text 6"/>
          <p:cNvSpPr/>
          <p:nvPr/>
        </p:nvSpPr>
        <p:spPr>
          <a:xfrm>
            <a:off x="7335257" y="2508945"/>
            <a:ext cx="4348451" cy="144760"/>
          </a:xfrm>
          <a:prstGeom prst="rect">
            <a:avLst/>
          </a:prstGeom>
          <a:noFill/>
          <a:ln/>
        </p:spPr>
        <p:txBody>
          <a:bodyPr wrap="none" lIns="0" tIns="0" rIns="0" bIns="0" rtlCol="0" anchor="t"/>
          <a:lstStyle/>
          <a:p>
            <a:pPr marL="0" indent="0" algn="l">
              <a:lnSpc>
                <a:spcPct val="100000"/>
              </a:lnSpc>
              <a:buNone/>
            </a:pPr>
            <a:r>
              <a:rPr lang="en-US" sz="950" b="1" kern="100" spc="76" dirty="0">
                <a:solidFill>
                  <a:srgbClr val="5B6573"/>
                </a:solidFill>
                <a:latin typeface="Arimo Bold" pitchFamily="34" charset="0"/>
                <a:ea typeface="Arimo Bold" pitchFamily="34" charset="-122"/>
                <a:cs typeface="Arimo Bold" pitchFamily="34" charset="-120"/>
              </a:rPr>
              <a:t>OBSERVED DIFFERENCES BREAKDOWN</a:t>
            </a:r>
            <a:endParaRPr lang="en-US" sz="95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7335257" y="2736255"/>
          <a:ext cx="4348451" cy="1606410"/>
        </p:xfrm>
        <a:graphic>
          <a:graphicData uri="http://schemas.openxmlformats.org/drawingml/2006/table">
            <a:tbl>
              <a:tblPr/>
              <a:tblGrid>
                <a:gridCol w="1652348">
                  <a:extLst>
                    <a:ext uri="{9D8B030D-6E8A-4147-A177-3AD203B41FA5}">
                      <a16:colId xmlns:a16="http://schemas.microsoft.com/office/drawing/2014/main" val="20000"/>
                    </a:ext>
                  </a:extLst>
                </a:gridCol>
                <a:gridCol w="1347952">
                  <a:extLst>
                    <a:ext uri="{9D8B030D-6E8A-4147-A177-3AD203B41FA5}">
                      <a16:colId xmlns:a16="http://schemas.microsoft.com/office/drawing/2014/main" val="20001"/>
                    </a:ext>
                  </a:extLst>
                </a:gridCol>
                <a:gridCol w="1348151">
                  <a:extLst>
                    <a:ext uri="{9D8B030D-6E8A-4147-A177-3AD203B41FA5}">
                      <a16:colId xmlns:a16="http://schemas.microsoft.com/office/drawing/2014/main" val="20002"/>
                    </a:ext>
                  </a:extLst>
                </a:gridCol>
              </a:tblGrid>
              <a:tr h="322552">
                <a:tc>
                  <a:txBody>
                    <a:bodyPr/>
                    <a:lstStyle/>
                    <a:p>
                      <a:pPr marL="0" indent="0" algn="l">
                        <a:buNone/>
                      </a:pPr>
                      <a:r>
                        <a:rPr lang="en-US" sz="1300" b="1" dirty="0">
                          <a:solidFill>
                            <a:srgbClr val="FFFFFF"/>
                          </a:solidFill>
                          <a:latin typeface="Archivo Narrow" pitchFamily="34" charset="0"/>
                          <a:ea typeface="Archivo Narrow" pitchFamily="34" charset="-122"/>
                          <a:cs typeface="Archivo Narrow" pitchFamily="34" charset="-120"/>
                        </a:rPr>
                        <a:t>Metric</a:t>
                      </a:r>
                      <a:endParaRPr lang="en-US" sz="1300" dirty="0">
                        <a:latin typeface="Archivo Narrow" charset="0"/>
                        <a:ea typeface="Archivo Narrow" charset="0"/>
                        <a:cs typeface="Archivo Narrow" charset="0"/>
                      </a:endParaRPr>
                    </a:p>
                  </a:txBody>
                  <a:tcPr marL="88898" marR="88898" marT="50799" marB="50799" anchor="ctr">
                    <a:lnL w="12700" cap="flat" cmpd="sng" algn="ctr">
                      <a:solidFill>
                        <a:srgbClr val="0B1F3A"/>
                      </a:solidFill>
                      <a:prstDash val="solid"/>
                      <a:round/>
                      <a:headEnd type="none" w="med" len="med"/>
                      <a:tailEnd type="none" w="med" len="med"/>
                    </a:lnL>
                    <a:lnR w="12700" cap="flat" cmpd="sng" algn="ctr">
                      <a:solidFill>
                        <a:srgbClr val="0B1F3A"/>
                      </a:solidFill>
                      <a:prstDash val="solid"/>
                      <a:round/>
                      <a:headEnd type="none" w="med" len="med"/>
                      <a:tailEnd type="none" w="med" len="med"/>
                    </a:lnR>
                    <a:lnT w="12700" cap="flat" cmpd="sng" algn="ctr">
                      <a:solidFill>
                        <a:srgbClr val="0B1F3A"/>
                      </a:solidFill>
                      <a:prstDash val="solid"/>
                      <a:round/>
                      <a:headEnd type="none" w="med" len="med"/>
                      <a:tailEnd type="none" w="med" len="med"/>
                    </a:lnT>
                    <a:lnB w="12700" cap="flat" cmpd="sng" algn="ctr">
                      <a:solidFill>
                        <a:srgbClr val="D5DAE0"/>
                      </a:solidFill>
                      <a:prstDash val="solid"/>
                      <a:round/>
                      <a:headEnd type="none" w="med" len="med"/>
                      <a:tailEnd type="none" w="med" len="med"/>
                    </a:lnB>
                    <a:solidFill>
                      <a:srgbClr val="0B1F3A"/>
                    </a:solidFill>
                  </a:tcPr>
                </a:tc>
                <a:tc>
                  <a:txBody>
                    <a:bodyPr/>
                    <a:lstStyle/>
                    <a:p>
                      <a:pPr marL="0" indent="0" algn="l">
                        <a:buNone/>
                      </a:pPr>
                      <a:r>
                        <a:rPr lang="en-US" sz="1300" b="1" dirty="0">
                          <a:solidFill>
                            <a:srgbClr val="FFFFFF"/>
                          </a:solidFill>
                          <a:latin typeface="Archivo Narrow" pitchFamily="34" charset="0"/>
                          <a:ea typeface="Archivo Narrow" pitchFamily="34" charset="-122"/>
                          <a:cs typeface="Archivo Narrow" pitchFamily="34" charset="-120"/>
                        </a:rPr>
                        <a:t>Control</a:t>
                      </a:r>
                      <a:endParaRPr lang="en-US" sz="1300" dirty="0">
                        <a:latin typeface="Archivo Narrow" charset="0"/>
                        <a:ea typeface="Archivo Narrow" charset="0"/>
                        <a:cs typeface="Archivo Narrow" charset="0"/>
                      </a:endParaRPr>
                    </a:p>
                  </a:txBody>
                  <a:tcPr marL="88898" marR="88898" marT="50799" marB="50799" anchor="ctr">
                    <a:lnL w="12700" cap="flat" cmpd="sng" algn="ctr">
                      <a:solidFill>
                        <a:srgbClr val="0B1F3A"/>
                      </a:solidFill>
                      <a:prstDash val="solid"/>
                      <a:round/>
                      <a:headEnd type="none" w="med" len="med"/>
                      <a:tailEnd type="none" w="med" len="med"/>
                    </a:lnL>
                    <a:lnR w="12700" cap="flat" cmpd="sng" algn="ctr">
                      <a:solidFill>
                        <a:srgbClr val="0B1F3A"/>
                      </a:solidFill>
                      <a:prstDash val="solid"/>
                      <a:round/>
                      <a:headEnd type="none" w="med" len="med"/>
                      <a:tailEnd type="none" w="med" len="med"/>
                    </a:lnR>
                    <a:lnT w="12700" cap="flat" cmpd="sng" algn="ctr">
                      <a:solidFill>
                        <a:srgbClr val="0B1F3A"/>
                      </a:solidFill>
                      <a:prstDash val="solid"/>
                      <a:round/>
                      <a:headEnd type="none" w="med" len="med"/>
                      <a:tailEnd type="none" w="med" len="med"/>
                    </a:lnT>
                    <a:lnB w="12700" cap="flat" cmpd="sng" algn="ctr">
                      <a:solidFill>
                        <a:srgbClr val="D5DAE0"/>
                      </a:solidFill>
                      <a:prstDash val="solid"/>
                      <a:round/>
                      <a:headEnd type="none" w="med" len="med"/>
                      <a:tailEnd type="none" w="med" len="med"/>
                    </a:lnB>
                    <a:solidFill>
                      <a:srgbClr val="0B1F3A"/>
                    </a:solidFill>
                  </a:tcPr>
                </a:tc>
                <a:tc>
                  <a:txBody>
                    <a:bodyPr/>
                    <a:lstStyle/>
                    <a:p>
                      <a:pPr marL="0" indent="0" algn="l">
                        <a:buNone/>
                      </a:pPr>
                      <a:r>
                        <a:rPr lang="en-US" sz="1300" b="1" dirty="0">
                          <a:solidFill>
                            <a:srgbClr val="FFFFFF"/>
                          </a:solidFill>
                          <a:latin typeface="Archivo Narrow" pitchFamily="34" charset="0"/>
                          <a:ea typeface="Archivo Narrow" pitchFamily="34" charset="-122"/>
                          <a:cs typeface="Archivo Narrow" pitchFamily="34" charset="-120"/>
                        </a:rPr>
                        <a:t>Mentor</a:t>
                      </a:r>
                      <a:endParaRPr lang="en-US" sz="1300" dirty="0">
                        <a:latin typeface="Archivo Narrow" charset="0"/>
                        <a:ea typeface="Archivo Narrow" charset="0"/>
                        <a:cs typeface="Archivo Narrow" charset="0"/>
                      </a:endParaRPr>
                    </a:p>
                  </a:txBody>
                  <a:tcPr marL="88898" marR="88898" marT="50799" marB="50799" anchor="ctr">
                    <a:lnL w="12700" cap="flat" cmpd="sng" algn="ctr">
                      <a:solidFill>
                        <a:srgbClr val="0B1F3A"/>
                      </a:solidFill>
                      <a:prstDash val="solid"/>
                      <a:round/>
                      <a:headEnd type="none" w="med" len="med"/>
                      <a:tailEnd type="none" w="med" len="med"/>
                    </a:lnL>
                    <a:lnR w="12700" cap="flat" cmpd="sng" algn="ctr">
                      <a:solidFill>
                        <a:srgbClr val="0B1F3A"/>
                      </a:solidFill>
                      <a:prstDash val="solid"/>
                      <a:round/>
                      <a:headEnd type="none" w="med" len="med"/>
                      <a:tailEnd type="none" w="med" len="med"/>
                    </a:lnR>
                    <a:lnT w="12700" cap="flat" cmpd="sng" algn="ctr">
                      <a:solidFill>
                        <a:srgbClr val="0B1F3A"/>
                      </a:solidFill>
                      <a:prstDash val="solid"/>
                      <a:round/>
                      <a:headEnd type="none" w="med" len="med"/>
                      <a:tailEnd type="none" w="med" len="med"/>
                    </a:lnT>
                    <a:lnB w="12700" cap="flat" cmpd="sng" algn="ctr">
                      <a:solidFill>
                        <a:srgbClr val="D5DAE0"/>
                      </a:solidFill>
                      <a:prstDash val="solid"/>
                      <a:round/>
                      <a:headEnd type="none" w="med" len="med"/>
                      <a:tailEnd type="none" w="med" len="med"/>
                    </a:lnB>
                    <a:solidFill>
                      <a:srgbClr val="0B1F3A"/>
                    </a:solidFill>
                  </a:tcPr>
                </a:tc>
                <a:extLst>
                  <a:ext uri="{0D108BD9-81ED-4DB2-BD59-A6C34878D82A}">
                    <a16:rowId xmlns:a16="http://schemas.microsoft.com/office/drawing/2014/main" val="10000"/>
                  </a:ext>
                </a:extLst>
              </a:tr>
              <a:tr h="322552">
                <a:tc>
                  <a:txBody>
                    <a:bodyPr/>
                    <a:lstStyle/>
                    <a:p>
                      <a:pPr marL="0" indent="0" algn="l">
                        <a:buNone/>
                      </a:pPr>
                      <a:r>
                        <a:rPr lang="en-US" sz="1300" dirty="0">
                          <a:solidFill>
                            <a:srgbClr val="2B2F36"/>
                          </a:solidFill>
                          <a:latin typeface="Archivo Narrow" pitchFamily="34" charset="0"/>
                          <a:ea typeface="Archivo Narrow" pitchFamily="34" charset="-122"/>
                          <a:cs typeface="Archivo Narrow" pitchFamily="34" charset="-120"/>
                        </a:rPr>
                        <a:t>Participants</a:t>
                      </a:r>
                      <a:endParaRPr lang="en-US" sz="1300" dirty="0">
                        <a:latin typeface="Archivo Narrow" charset="0"/>
                        <a:ea typeface="Archivo Narrow" charset="0"/>
                        <a:cs typeface="Archivo Narrow" charset="0"/>
                      </a:endParaRPr>
                    </a:p>
                  </a:txBody>
                  <a:tcPr marL="88898" marR="88898" marT="50799" marB="50799" anchor="ctr">
                    <a:lnL w="12700" cap="flat" cmpd="sng" algn="ctr">
                      <a:solidFill>
                        <a:srgbClr val="F2F4F6"/>
                      </a:solidFill>
                      <a:prstDash val="solid"/>
                      <a:round/>
                      <a:headEnd type="none" w="med" len="med"/>
                      <a:tailEnd type="none" w="med" len="med"/>
                    </a:lnL>
                    <a:lnR w="12700" cap="flat" cmpd="sng" algn="ctr">
                      <a:solidFill>
                        <a:srgbClr val="F2F4F6"/>
                      </a:solidFill>
                      <a:prstDash val="solid"/>
                      <a:round/>
                      <a:headEnd type="none" w="med" len="med"/>
                      <a:tailEnd type="none" w="med" len="med"/>
                    </a:lnR>
                    <a:lnT w="12700" cap="flat" cmpd="sng" algn="ctr">
                      <a:solidFill>
                        <a:srgbClr val="D5DAE0"/>
                      </a:solidFill>
                      <a:prstDash val="solid"/>
                      <a:round/>
                      <a:headEnd type="none" w="med" len="med"/>
                      <a:tailEnd type="none" w="med" len="med"/>
                    </a:lnT>
                    <a:lnB w="12700" cap="flat" cmpd="sng" algn="ctr">
                      <a:solidFill>
                        <a:srgbClr val="D5DAE0"/>
                      </a:solidFill>
                      <a:prstDash val="solid"/>
                      <a:round/>
                      <a:headEnd type="none" w="med" len="med"/>
                      <a:tailEnd type="none" w="med" len="med"/>
                    </a:lnB>
                    <a:solidFill>
                      <a:srgbClr val="F2F4F6"/>
                    </a:solidFill>
                  </a:tcPr>
                </a:tc>
                <a:tc>
                  <a:txBody>
                    <a:bodyPr/>
                    <a:lstStyle/>
                    <a:p>
                      <a:pPr marL="0" indent="0" algn="l">
                        <a:buNone/>
                      </a:pPr>
                      <a:r>
                        <a:rPr lang="en-US" sz="1300" dirty="0">
                          <a:solidFill>
                            <a:srgbClr val="2B2F36"/>
                          </a:solidFill>
                          <a:latin typeface="Archivo Narrow" pitchFamily="34" charset="0"/>
                          <a:ea typeface="Archivo Narrow" pitchFamily="34" charset="-122"/>
                          <a:cs typeface="Archivo Narrow" pitchFamily="34" charset="-120"/>
                        </a:rPr>
                        <a:t>1,000</a:t>
                      </a:r>
                      <a:endParaRPr lang="en-US" sz="1300" dirty="0">
                        <a:latin typeface="Archivo Narrow" charset="0"/>
                        <a:ea typeface="Archivo Narrow" charset="0"/>
                        <a:cs typeface="Archivo Narrow" charset="0"/>
                      </a:endParaRPr>
                    </a:p>
                  </a:txBody>
                  <a:tcPr marL="88898" marR="88898" marT="50799" marB="50799" anchor="ctr">
                    <a:lnL w="12700" cap="flat" cmpd="sng" algn="ctr">
                      <a:solidFill>
                        <a:srgbClr val="F2F4F6"/>
                      </a:solidFill>
                      <a:prstDash val="solid"/>
                      <a:round/>
                      <a:headEnd type="none" w="med" len="med"/>
                      <a:tailEnd type="none" w="med" len="med"/>
                    </a:lnL>
                    <a:lnR w="12700" cap="flat" cmpd="sng" algn="ctr">
                      <a:solidFill>
                        <a:srgbClr val="F2F4F6"/>
                      </a:solidFill>
                      <a:prstDash val="solid"/>
                      <a:round/>
                      <a:headEnd type="none" w="med" len="med"/>
                      <a:tailEnd type="none" w="med" len="med"/>
                    </a:lnR>
                    <a:lnT w="12700" cap="flat" cmpd="sng" algn="ctr">
                      <a:solidFill>
                        <a:srgbClr val="D5DAE0"/>
                      </a:solidFill>
                      <a:prstDash val="solid"/>
                      <a:round/>
                      <a:headEnd type="none" w="med" len="med"/>
                      <a:tailEnd type="none" w="med" len="med"/>
                    </a:lnT>
                    <a:lnB w="12700" cap="flat" cmpd="sng" algn="ctr">
                      <a:solidFill>
                        <a:srgbClr val="D5DAE0"/>
                      </a:solidFill>
                      <a:prstDash val="solid"/>
                      <a:round/>
                      <a:headEnd type="none" w="med" len="med"/>
                      <a:tailEnd type="none" w="med" len="med"/>
                    </a:lnB>
                    <a:solidFill>
                      <a:srgbClr val="F2F4F6"/>
                    </a:solidFill>
                  </a:tcPr>
                </a:tc>
                <a:tc>
                  <a:txBody>
                    <a:bodyPr/>
                    <a:lstStyle/>
                    <a:p>
                      <a:pPr marL="0" indent="0" algn="l">
                        <a:buNone/>
                      </a:pPr>
                      <a:r>
                        <a:rPr lang="en-US" sz="1300" dirty="0">
                          <a:solidFill>
                            <a:srgbClr val="2B2F36"/>
                          </a:solidFill>
                          <a:latin typeface="Archivo Narrow" pitchFamily="34" charset="0"/>
                          <a:ea typeface="Archivo Narrow" pitchFamily="34" charset="-122"/>
                          <a:cs typeface="Archivo Narrow" pitchFamily="34" charset="-120"/>
                        </a:rPr>
                        <a:t>1,000</a:t>
                      </a:r>
                      <a:endParaRPr lang="en-US" sz="1300" dirty="0">
                        <a:latin typeface="Archivo Narrow" charset="0"/>
                        <a:ea typeface="Archivo Narrow" charset="0"/>
                        <a:cs typeface="Archivo Narrow" charset="0"/>
                      </a:endParaRPr>
                    </a:p>
                  </a:txBody>
                  <a:tcPr marL="88898" marR="88898" marT="50799" marB="50799" anchor="ctr">
                    <a:lnL w="12700" cap="flat" cmpd="sng" algn="ctr">
                      <a:solidFill>
                        <a:srgbClr val="F2F4F6"/>
                      </a:solidFill>
                      <a:prstDash val="solid"/>
                      <a:round/>
                      <a:headEnd type="none" w="med" len="med"/>
                      <a:tailEnd type="none" w="med" len="med"/>
                    </a:lnL>
                    <a:lnR w="12700" cap="flat" cmpd="sng" algn="ctr">
                      <a:solidFill>
                        <a:srgbClr val="F2F4F6"/>
                      </a:solidFill>
                      <a:prstDash val="solid"/>
                      <a:round/>
                      <a:headEnd type="none" w="med" len="med"/>
                      <a:tailEnd type="none" w="med" len="med"/>
                    </a:lnR>
                    <a:lnT w="12700" cap="flat" cmpd="sng" algn="ctr">
                      <a:solidFill>
                        <a:srgbClr val="D5DAE0"/>
                      </a:solidFill>
                      <a:prstDash val="solid"/>
                      <a:round/>
                      <a:headEnd type="none" w="med" len="med"/>
                      <a:tailEnd type="none" w="med" len="med"/>
                    </a:lnT>
                    <a:lnB w="12700" cap="flat" cmpd="sng" algn="ctr">
                      <a:solidFill>
                        <a:srgbClr val="D5DAE0"/>
                      </a:solidFill>
                      <a:prstDash val="solid"/>
                      <a:round/>
                      <a:headEnd type="none" w="med" len="med"/>
                      <a:tailEnd type="none" w="med" len="med"/>
                    </a:lnB>
                    <a:solidFill>
                      <a:srgbClr val="F2F4F6"/>
                    </a:solidFill>
                  </a:tcPr>
                </a:tc>
                <a:extLst>
                  <a:ext uri="{0D108BD9-81ED-4DB2-BD59-A6C34878D82A}">
                    <a16:rowId xmlns:a16="http://schemas.microsoft.com/office/drawing/2014/main" val="10001"/>
                  </a:ext>
                </a:extLst>
              </a:tr>
              <a:tr h="322552">
                <a:tc>
                  <a:txBody>
                    <a:bodyPr/>
                    <a:lstStyle/>
                    <a:p>
                      <a:pPr marL="0" indent="0" algn="l">
                        <a:buNone/>
                      </a:pPr>
                      <a:r>
                        <a:rPr lang="en-US" sz="1300" dirty="0">
                          <a:solidFill>
                            <a:srgbClr val="2B2F36"/>
                          </a:solidFill>
                          <a:latin typeface="Archivo Narrow" pitchFamily="34" charset="0"/>
                          <a:ea typeface="Archivo Narrow" pitchFamily="34" charset="-122"/>
                          <a:cs typeface="Archivo Narrow" pitchFamily="34" charset="-120"/>
                        </a:rPr>
                        <a:t>Completions</a:t>
                      </a:r>
                      <a:endParaRPr lang="en-US" sz="1300" dirty="0">
                        <a:latin typeface="Archivo Narrow" charset="0"/>
                        <a:ea typeface="Archivo Narrow" charset="0"/>
                        <a:cs typeface="Archivo Narrow" charset="0"/>
                      </a:endParaRPr>
                    </a:p>
                  </a:txBody>
                  <a:tcPr marL="88898" marR="88898" marT="50799" marB="50799"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D5DAE0"/>
                      </a:solidFill>
                      <a:prstDash val="solid"/>
                      <a:round/>
                      <a:headEnd type="none" w="med" len="med"/>
                      <a:tailEnd type="none" w="med" len="med"/>
                    </a:lnT>
                    <a:lnB w="12700" cap="flat" cmpd="sng" algn="ctr">
                      <a:solidFill>
                        <a:srgbClr val="D5DAE0"/>
                      </a:solidFill>
                      <a:prstDash val="solid"/>
                      <a:round/>
                      <a:headEnd type="none" w="med" len="med"/>
                      <a:tailEnd type="none" w="med" len="med"/>
                    </a:lnB>
                  </a:tcPr>
                </a:tc>
                <a:tc>
                  <a:txBody>
                    <a:bodyPr/>
                    <a:lstStyle/>
                    <a:p>
                      <a:pPr marL="0" indent="0" algn="l">
                        <a:buNone/>
                      </a:pPr>
                      <a:r>
                        <a:rPr lang="en-US" sz="1300" dirty="0">
                          <a:solidFill>
                            <a:srgbClr val="2B2F36"/>
                          </a:solidFill>
                          <a:latin typeface="Archivo Narrow" pitchFamily="34" charset="0"/>
                          <a:ea typeface="Archivo Narrow" pitchFamily="34" charset="-122"/>
                          <a:cs typeface="Archivo Narrow" pitchFamily="34" charset="-120"/>
                        </a:rPr>
                        <a:t>580 (58.0%)</a:t>
                      </a:r>
                      <a:endParaRPr lang="en-US" sz="1300" dirty="0">
                        <a:latin typeface="Archivo Narrow" charset="0"/>
                        <a:ea typeface="Archivo Narrow" charset="0"/>
                        <a:cs typeface="Archivo Narrow" charset="0"/>
                      </a:endParaRPr>
                    </a:p>
                  </a:txBody>
                  <a:tcPr marL="88898" marR="88898" marT="50799" marB="50799"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D5DAE0"/>
                      </a:solidFill>
                      <a:prstDash val="solid"/>
                      <a:round/>
                      <a:headEnd type="none" w="med" len="med"/>
                      <a:tailEnd type="none" w="med" len="med"/>
                    </a:lnT>
                    <a:lnB w="12700" cap="flat" cmpd="sng" algn="ctr">
                      <a:solidFill>
                        <a:srgbClr val="D5DAE0"/>
                      </a:solidFill>
                      <a:prstDash val="solid"/>
                      <a:round/>
                      <a:headEnd type="none" w="med" len="med"/>
                      <a:tailEnd type="none" w="med" len="med"/>
                    </a:lnB>
                  </a:tcPr>
                </a:tc>
                <a:tc>
                  <a:txBody>
                    <a:bodyPr/>
                    <a:lstStyle/>
                    <a:p>
                      <a:pPr marL="0" indent="0" algn="l">
                        <a:buNone/>
                      </a:pPr>
                      <a:r>
                        <a:rPr lang="en-US" sz="1300" dirty="0">
                          <a:solidFill>
                            <a:srgbClr val="2B2F36"/>
                          </a:solidFill>
                          <a:latin typeface="Archivo Narrow" pitchFamily="34" charset="0"/>
                          <a:ea typeface="Archivo Narrow" pitchFamily="34" charset="-122"/>
                          <a:cs typeface="Archivo Narrow" pitchFamily="34" charset="-120"/>
                        </a:rPr>
                        <a:t>690 (69.0%)</a:t>
                      </a:r>
                      <a:endParaRPr lang="en-US" sz="1300" dirty="0">
                        <a:latin typeface="Archivo Narrow" charset="0"/>
                        <a:ea typeface="Archivo Narrow" charset="0"/>
                        <a:cs typeface="Archivo Narrow" charset="0"/>
                      </a:endParaRPr>
                    </a:p>
                  </a:txBody>
                  <a:tcPr marL="88898" marR="88898" marT="50799" marB="50799"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D5DAE0"/>
                      </a:solidFill>
                      <a:prstDash val="solid"/>
                      <a:round/>
                      <a:headEnd type="none" w="med" len="med"/>
                      <a:tailEnd type="none" w="med" len="med"/>
                    </a:lnT>
                    <a:lnB w="12700" cap="flat" cmpd="sng" algn="ctr">
                      <a:solidFill>
                        <a:srgbClr val="D5DAE0"/>
                      </a:solidFill>
                      <a:prstDash val="solid"/>
                      <a:round/>
                      <a:headEnd type="none" w="med" len="med"/>
                      <a:tailEnd type="none" w="med" len="med"/>
                    </a:lnB>
                  </a:tcPr>
                </a:tc>
                <a:extLst>
                  <a:ext uri="{0D108BD9-81ED-4DB2-BD59-A6C34878D82A}">
                    <a16:rowId xmlns:a16="http://schemas.microsoft.com/office/drawing/2014/main" val="10002"/>
                  </a:ext>
                </a:extLst>
              </a:tr>
              <a:tr h="322552">
                <a:tc>
                  <a:txBody>
                    <a:bodyPr/>
                    <a:lstStyle/>
                    <a:p>
                      <a:pPr marL="0" indent="0" algn="l">
                        <a:buNone/>
                      </a:pPr>
                      <a:r>
                        <a:rPr lang="en-US" sz="1300" dirty="0">
                          <a:solidFill>
                            <a:srgbClr val="2B2F36"/>
                          </a:solidFill>
                          <a:latin typeface="Archivo Narrow" pitchFamily="34" charset="0"/>
                          <a:ea typeface="Archivo Narrow" pitchFamily="34" charset="-122"/>
                          <a:cs typeface="Archivo Narrow" pitchFamily="34" charset="-120"/>
                        </a:rPr>
                        <a:t>Recorded outcomes</a:t>
                      </a:r>
                      <a:endParaRPr lang="en-US" sz="1300" dirty="0">
                        <a:latin typeface="Archivo Narrow" charset="0"/>
                        <a:ea typeface="Archivo Narrow" charset="0"/>
                        <a:cs typeface="Archivo Narrow" charset="0"/>
                      </a:endParaRPr>
                    </a:p>
                  </a:txBody>
                  <a:tcPr marL="88898" marR="88898" marT="50799" marB="50799" anchor="ctr">
                    <a:lnL w="12700" cap="flat" cmpd="sng" algn="ctr">
                      <a:solidFill>
                        <a:srgbClr val="F2F4F6"/>
                      </a:solidFill>
                      <a:prstDash val="solid"/>
                      <a:round/>
                      <a:headEnd type="none" w="med" len="med"/>
                      <a:tailEnd type="none" w="med" len="med"/>
                    </a:lnL>
                    <a:lnR w="12700" cap="flat" cmpd="sng" algn="ctr">
                      <a:solidFill>
                        <a:srgbClr val="F2F4F6"/>
                      </a:solidFill>
                      <a:prstDash val="solid"/>
                      <a:round/>
                      <a:headEnd type="none" w="med" len="med"/>
                      <a:tailEnd type="none" w="med" len="med"/>
                    </a:lnR>
                    <a:lnT w="12700" cap="flat" cmpd="sng" algn="ctr">
                      <a:solidFill>
                        <a:srgbClr val="D5DAE0"/>
                      </a:solidFill>
                      <a:prstDash val="solid"/>
                      <a:round/>
                      <a:headEnd type="none" w="med" len="med"/>
                      <a:tailEnd type="none" w="med" len="med"/>
                    </a:lnT>
                    <a:lnB w="12700" cap="flat" cmpd="sng" algn="ctr">
                      <a:solidFill>
                        <a:srgbClr val="D5DAE0"/>
                      </a:solidFill>
                      <a:prstDash val="solid"/>
                      <a:round/>
                      <a:headEnd type="none" w="med" len="med"/>
                      <a:tailEnd type="none" w="med" len="med"/>
                    </a:lnB>
                    <a:solidFill>
                      <a:srgbClr val="F2F4F6"/>
                    </a:solidFill>
                  </a:tcPr>
                </a:tc>
                <a:tc>
                  <a:txBody>
                    <a:bodyPr/>
                    <a:lstStyle/>
                    <a:p>
                      <a:pPr marL="0" indent="0" algn="l">
                        <a:buNone/>
                      </a:pPr>
                      <a:r>
                        <a:rPr lang="en-US" sz="1300" dirty="0">
                          <a:solidFill>
                            <a:srgbClr val="2B2F36"/>
                          </a:solidFill>
                          <a:latin typeface="Archivo Narrow" pitchFamily="34" charset="0"/>
                          <a:ea typeface="Archivo Narrow" pitchFamily="34" charset="-122"/>
                          <a:cs typeface="Archivo Narrow" pitchFamily="34" charset="-120"/>
                        </a:rPr>
                        <a:t>440 (44.0%)</a:t>
                      </a:r>
                      <a:endParaRPr lang="en-US" sz="1300" dirty="0">
                        <a:latin typeface="Archivo Narrow" charset="0"/>
                        <a:ea typeface="Archivo Narrow" charset="0"/>
                        <a:cs typeface="Archivo Narrow" charset="0"/>
                      </a:endParaRPr>
                    </a:p>
                  </a:txBody>
                  <a:tcPr marL="88898" marR="88898" marT="50799" marB="50799" anchor="ctr">
                    <a:lnL w="12700" cap="flat" cmpd="sng" algn="ctr">
                      <a:solidFill>
                        <a:srgbClr val="F2F4F6"/>
                      </a:solidFill>
                      <a:prstDash val="solid"/>
                      <a:round/>
                      <a:headEnd type="none" w="med" len="med"/>
                      <a:tailEnd type="none" w="med" len="med"/>
                    </a:lnL>
                    <a:lnR w="12700" cap="flat" cmpd="sng" algn="ctr">
                      <a:solidFill>
                        <a:srgbClr val="F2F4F6"/>
                      </a:solidFill>
                      <a:prstDash val="solid"/>
                      <a:round/>
                      <a:headEnd type="none" w="med" len="med"/>
                      <a:tailEnd type="none" w="med" len="med"/>
                    </a:lnR>
                    <a:lnT w="12700" cap="flat" cmpd="sng" algn="ctr">
                      <a:solidFill>
                        <a:srgbClr val="D5DAE0"/>
                      </a:solidFill>
                      <a:prstDash val="solid"/>
                      <a:round/>
                      <a:headEnd type="none" w="med" len="med"/>
                      <a:tailEnd type="none" w="med" len="med"/>
                    </a:lnT>
                    <a:lnB w="12700" cap="flat" cmpd="sng" algn="ctr">
                      <a:solidFill>
                        <a:srgbClr val="D5DAE0"/>
                      </a:solidFill>
                      <a:prstDash val="solid"/>
                      <a:round/>
                      <a:headEnd type="none" w="med" len="med"/>
                      <a:tailEnd type="none" w="med" len="med"/>
                    </a:lnB>
                    <a:solidFill>
                      <a:srgbClr val="F2F4F6"/>
                    </a:solidFill>
                  </a:tcPr>
                </a:tc>
                <a:tc>
                  <a:txBody>
                    <a:bodyPr/>
                    <a:lstStyle/>
                    <a:p>
                      <a:pPr marL="0" indent="0" algn="l">
                        <a:buNone/>
                      </a:pPr>
                      <a:r>
                        <a:rPr lang="en-US" sz="1300" dirty="0">
                          <a:solidFill>
                            <a:srgbClr val="2B2F36"/>
                          </a:solidFill>
                          <a:latin typeface="Archivo Narrow" pitchFamily="34" charset="0"/>
                          <a:ea typeface="Archivo Narrow" pitchFamily="34" charset="-122"/>
                          <a:cs typeface="Archivo Narrow" pitchFamily="34" charset="-120"/>
                        </a:rPr>
                        <a:t>550 (55.0%)</a:t>
                      </a:r>
                      <a:endParaRPr lang="en-US" sz="1300" dirty="0">
                        <a:latin typeface="Archivo Narrow" charset="0"/>
                        <a:ea typeface="Archivo Narrow" charset="0"/>
                        <a:cs typeface="Archivo Narrow" charset="0"/>
                      </a:endParaRPr>
                    </a:p>
                  </a:txBody>
                  <a:tcPr marL="88898" marR="88898" marT="50799" marB="50799" anchor="ctr">
                    <a:lnL w="12700" cap="flat" cmpd="sng" algn="ctr">
                      <a:solidFill>
                        <a:srgbClr val="F2F4F6"/>
                      </a:solidFill>
                      <a:prstDash val="solid"/>
                      <a:round/>
                      <a:headEnd type="none" w="med" len="med"/>
                      <a:tailEnd type="none" w="med" len="med"/>
                    </a:lnL>
                    <a:lnR w="12700" cap="flat" cmpd="sng" algn="ctr">
                      <a:solidFill>
                        <a:srgbClr val="F2F4F6"/>
                      </a:solidFill>
                      <a:prstDash val="solid"/>
                      <a:round/>
                      <a:headEnd type="none" w="med" len="med"/>
                      <a:tailEnd type="none" w="med" len="med"/>
                    </a:lnR>
                    <a:lnT w="12700" cap="flat" cmpd="sng" algn="ctr">
                      <a:solidFill>
                        <a:srgbClr val="D5DAE0"/>
                      </a:solidFill>
                      <a:prstDash val="solid"/>
                      <a:round/>
                      <a:headEnd type="none" w="med" len="med"/>
                      <a:tailEnd type="none" w="med" len="med"/>
                    </a:lnT>
                    <a:lnB w="12700" cap="flat" cmpd="sng" algn="ctr">
                      <a:solidFill>
                        <a:srgbClr val="D5DAE0"/>
                      </a:solidFill>
                      <a:prstDash val="solid"/>
                      <a:round/>
                      <a:headEnd type="none" w="med" len="med"/>
                      <a:tailEnd type="none" w="med" len="med"/>
                    </a:lnB>
                    <a:solidFill>
                      <a:srgbClr val="F2F4F6"/>
                    </a:solidFill>
                  </a:tcPr>
                </a:tc>
                <a:extLst>
                  <a:ext uri="{0D108BD9-81ED-4DB2-BD59-A6C34878D82A}">
                    <a16:rowId xmlns:a16="http://schemas.microsoft.com/office/drawing/2014/main" val="10003"/>
                  </a:ext>
                </a:extLst>
              </a:tr>
              <a:tr h="316202">
                <a:tc>
                  <a:txBody>
                    <a:bodyPr/>
                    <a:lstStyle/>
                    <a:p>
                      <a:pPr marL="0" indent="0" algn="l">
                        <a:buNone/>
                      </a:pPr>
                      <a:r>
                        <a:rPr lang="en-US" sz="1300" dirty="0">
                          <a:solidFill>
                            <a:srgbClr val="2B2F36"/>
                          </a:solidFill>
                          <a:latin typeface="Archivo Narrow" pitchFamily="34" charset="0"/>
                          <a:ea typeface="Archivo Narrow" pitchFamily="34" charset="-122"/>
                          <a:cs typeface="Archivo Narrow" pitchFamily="34" charset="-120"/>
                        </a:rPr>
                        <a:t>Observed additional</a:t>
                      </a:r>
                      <a:endParaRPr lang="en-US" sz="1300" dirty="0">
                        <a:latin typeface="Archivo Narrow" charset="0"/>
                        <a:ea typeface="Archivo Narrow" charset="0"/>
                        <a:cs typeface="Archivo Narrow" charset="0"/>
                      </a:endParaRPr>
                    </a:p>
                  </a:txBody>
                  <a:tcPr marL="88898" marR="88898" marT="50799" marB="50799"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D5DAE0"/>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marL="0" indent="0" algn="l">
                        <a:buNone/>
                      </a:pPr>
                      <a:r>
                        <a:rPr lang="en-US" sz="1300" dirty="0">
                          <a:solidFill>
                            <a:srgbClr val="2B2F36"/>
                          </a:solidFill>
                          <a:latin typeface="Archivo Narrow" pitchFamily="34" charset="0"/>
                          <a:ea typeface="Archivo Narrow" pitchFamily="34" charset="-122"/>
                          <a:cs typeface="Archivo Narrow" pitchFamily="34" charset="-120"/>
                        </a:rPr>
                        <a:t>—</a:t>
                      </a:r>
                      <a:endParaRPr lang="en-US" sz="1300" dirty="0">
                        <a:latin typeface="Archivo Narrow" charset="0"/>
                        <a:ea typeface="Archivo Narrow" charset="0"/>
                        <a:cs typeface="Archivo Narrow" charset="0"/>
                      </a:endParaRPr>
                    </a:p>
                  </a:txBody>
                  <a:tcPr marL="88898" marR="88898" marT="50799" marB="50799"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D5DAE0"/>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marL="0" indent="0" algn="l">
                        <a:buNone/>
                      </a:pPr>
                      <a:r>
                        <a:rPr lang="en-US" sz="1300" b="1" dirty="0">
                          <a:solidFill>
                            <a:srgbClr val="2B2F36"/>
                          </a:solidFill>
                          <a:latin typeface="Archivo Narrow" pitchFamily="34" charset="0"/>
                          <a:ea typeface="Archivo Narrow" pitchFamily="34" charset="-122"/>
                          <a:cs typeface="Archivo Narrow" pitchFamily="34" charset="-120"/>
                        </a:rPr>
                        <a:t>+110 each</a:t>
                      </a:r>
                      <a:endParaRPr lang="en-US" sz="1300" dirty="0">
                        <a:latin typeface="Archivo Narrow" charset="0"/>
                        <a:ea typeface="Archivo Narrow" charset="0"/>
                        <a:cs typeface="Archivo Narrow" charset="0"/>
                      </a:endParaRPr>
                    </a:p>
                  </a:txBody>
                  <a:tcPr marL="88898" marR="88898" marT="50799" marB="50799"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D5DAE0"/>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11" name="Shape 7"/>
          <p:cNvSpPr/>
          <p:nvPr/>
        </p:nvSpPr>
        <p:spPr>
          <a:xfrm>
            <a:off x="7335257" y="4425255"/>
            <a:ext cx="4348451" cy="1441450"/>
          </a:xfrm>
          <a:prstGeom prst="rect">
            <a:avLst/>
          </a:prstGeom>
          <a:solidFill>
            <a:srgbClr val="F2F4F6"/>
          </a:solidFill>
          <a:ln/>
        </p:spPr>
        <p:txBody>
          <a:bodyPr/>
          <a:lstStyle/>
          <a:p>
            <a:endParaRPr lang="en-US"/>
          </a:p>
        </p:txBody>
      </p:sp>
      <p:sp>
        <p:nvSpPr>
          <p:cNvPr id="12" name="Shape 8"/>
          <p:cNvSpPr/>
          <p:nvPr/>
        </p:nvSpPr>
        <p:spPr>
          <a:xfrm>
            <a:off x="7335257" y="4425255"/>
            <a:ext cx="38099" cy="1441450"/>
          </a:xfrm>
          <a:prstGeom prst="rect">
            <a:avLst/>
          </a:prstGeom>
          <a:solidFill>
            <a:srgbClr val="C0102F"/>
          </a:solidFill>
          <a:ln/>
        </p:spPr>
        <p:txBody>
          <a:bodyPr/>
          <a:lstStyle/>
          <a:p>
            <a:endParaRPr lang="en-US"/>
          </a:p>
        </p:txBody>
      </p:sp>
      <p:sp>
        <p:nvSpPr>
          <p:cNvPr id="13" name="Text 9"/>
          <p:cNvSpPr/>
          <p:nvPr/>
        </p:nvSpPr>
        <p:spPr>
          <a:xfrm>
            <a:off x="7525752" y="4531618"/>
            <a:ext cx="4005559" cy="1238250"/>
          </a:xfrm>
          <a:prstGeom prst="rect">
            <a:avLst/>
          </a:prstGeom>
          <a:noFill/>
          <a:ln/>
        </p:spPr>
        <p:txBody>
          <a:bodyPr wrap="square" lIns="0" tIns="0" rIns="0" bIns="0" rtlCol="0" anchor="t">
            <a:normAutofit/>
          </a:bodyPr>
          <a:lstStyle/>
          <a:p>
            <a:pPr marL="0" indent="0" algn="l">
              <a:lnSpc>
                <a:spcPct val="108000"/>
              </a:lnSpc>
              <a:buNone/>
            </a:pPr>
            <a:r>
              <a:rPr lang="en-US" sz="1500" b="1" dirty="0">
                <a:solidFill>
                  <a:srgbClr val="2B2F36"/>
                </a:solidFill>
                <a:latin typeface="Arimo Bold" pitchFamily="34" charset="0"/>
                <a:ea typeface="Arimo Bold" pitchFamily="34" charset="-122"/>
                <a:cs typeface="Arimo Bold" pitchFamily="34" charset="-120"/>
              </a:rPr>
              <a:t>Participants may appear in both measures.</a:t>
            </a:r>
            <a:r>
              <a:rPr lang="en-US" sz="1500" dirty="0">
                <a:solidFill>
                  <a:srgbClr val="2B2F36"/>
                </a:solidFill>
                <a:latin typeface="Arimo" pitchFamily="34" charset="0"/>
                <a:ea typeface="Arimo" pitchFamily="34" charset="-122"/>
                <a:cs typeface="Arimo" pitchFamily="34" charset="-120"/>
              </a:rPr>
              <a:t> 110 additional completions and 110 additional outcomes were observed. These may overlap and must not be added as 220 distinct beneficiaries.</a:t>
            </a:r>
            <a:endParaRPr lang="en-US" sz="1500" dirty="0"/>
          </a:p>
        </p:txBody>
      </p:sp>
      <p:sp>
        <p:nvSpPr>
          <p:cNvPr id="16" name="Text 12"/>
          <p:cNvSpPr/>
          <p:nvPr/>
        </p:nvSpPr>
        <p:spPr>
          <a:xfrm>
            <a:off x="11620209" y="6555085"/>
            <a:ext cx="571486" cy="148530"/>
          </a:xfrm>
          <a:prstGeom prst="rect">
            <a:avLst/>
          </a:prstGeom>
          <a:noFill/>
          <a:ln/>
        </p:spPr>
        <p:txBody>
          <a:bodyPr wrap="none" lIns="0" tIns="0" rIns="0" bIns="0" rtlCol="0" anchor="ctr"/>
          <a:lstStyle/>
          <a:p>
            <a:pPr marL="0" indent="0" algn="l">
              <a:lnSpc>
                <a:spcPct val="108000"/>
              </a:lnSpc>
              <a:buNone/>
            </a:pPr>
            <a:r>
              <a:rPr lang="en-US" sz="900" dirty="0">
                <a:solidFill>
                  <a:srgbClr val="2B2F36"/>
                </a:solidFill>
                <a:latin typeface="Arimo" pitchFamily="34" charset="0"/>
                <a:ea typeface="Arimo" pitchFamily="34" charset="-122"/>
                <a:cs typeface="Arimo"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07987" y="508000"/>
            <a:ext cx="11683708" cy="144760"/>
          </a:xfrm>
          <a:prstGeom prst="rect">
            <a:avLst/>
          </a:prstGeom>
          <a:noFill/>
          <a:ln/>
        </p:spPr>
        <p:txBody>
          <a:bodyPr wrap="none" lIns="0" tIns="0" rIns="0" bIns="0" rtlCol="0" anchor="t"/>
          <a:lstStyle/>
          <a:p>
            <a:pPr marL="0" indent="0" algn="l">
              <a:lnSpc>
                <a:spcPct val="100000"/>
              </a:lnSpc>
              <a:buNone/>
            </a:pPr>
            <a:r>
              <a:rPr lang="en-US" sz="950" b="1" kern="100" spc="76" dirty="0">
                <a:solidFill>
                  <a:srgbClr val="5B6573"/>
                </a:solidFill>
                <a:latin typeface="Arimo Bold" pitchFamily="34" charset="0"/>
                <a:ea typeface="Arimo Bold" pitchFamily="34" charset="-122"/>
                <a:cs typeface="Arimo Bold" pitchFamily="34" charset="-120"/>
              </a:rPr>
              <a:t>INFERENTIAL TESTING &amp; STATISTICAL RIGOR</a:t>
            </a:r>
            <a:endParaRPr lang="en-US" sz="950" dirty="0"/>
          </a:p>
        </p:txBody>
      </p:sp>
      <p:sp>
        <p:nvSpPr>
          <p:cNvPr id="3" name="Text 1"/>
          <p:cNvSpPr/>
          <p:nvPr/>
        </p:nvSpPr>
        <p:spPr>
          <a:xfrm>
            <a:off x="507987" y="715879"/>
            <a:ext cx="11175720" cy="398264"/>
          </a:xfrm>
          <a:prstGeom prst="rect">
            <a:avLst/>
          </a:prstGeom>
          <a:noFill/>
          <a:ln/>
        </p:spPr>
        <p:txBody>
          <a:bodyPr wrap="none" lIns="0" tIns="0" rIns="0" bIns="0" rtlCol="0" anchor="t"/>
          <a:lstStyle/>
          <a:p>
            <a:pPr marL="0" indent="0" algn="l">
              <a:lnSpc>
                <a:spcPct val="93000"/>
              </a:lnSpc>
              <a:buNone/>
            </a:pPr>
            <a:r>
              <a:rPr lang="en-US" sz="2800" b="1" kern="100" spc="-14" dirty="0">
                <a:solidFill>
                  <a:srgbClr val="0B1F3A"/>
                </a:solidFill>
                <a:latin typeface="Arimo Bold" pitchFamily="34" charset="0"/>
                <a:ea typeface="Arimo Bold" pitchFamily="34" charset="-122"/>
                <a:cs typeface="Arimo Bold" pitchFamily="34" charset="-120"/>
              </a:rPr>
              <a:t>Statistical evidence supports the observed differences</a:t>
            </a:r>
            <a:endParaRPr lang="en-US" sz="2800" dirty="0"/>
          </a:p>
        </p:txBody>
      </p:sp>
      <p:sp>
        <p:nvSpPr>
          <p:cNvPr id="4" name="Shape 2"/>
          <p:cNvSpPr/>
          <p:nvPr/>
        </p:nvSpPr>
        <p:spPr>
          <a:xfrm>
            <a:off x="507987" y="1289149"/>
            <a:ext cx="11175621" cy="19050"/>
          </a:xfrm>
          <a:prstGeom prst="roundRect">
            <a:avLst>
              <a:gd name="adj" fmla="val 49999"/>
            </a:avLst>
          </a:prstGeom>
          <a:solidFill>
            <a:srgbClr val="D5DAE0"/>
          </a:solidFill>
          <a:ln/>
        </p:spPr>
        <p:txBody>
          <a:bodyPr/>
          <a:lstStyle/>
          <a:p>
            <a:endParaRPr lang="en-US"/>
          </a:p>
        </p:txBody>
      </p:sp>
      <p:sp>
        <p:nvSpPr>
          <p:cNvPr id="5" name="Shape 3"/>
          <p:cNvSpPr/>
          <p:nvPr/>
        </p:nvSpPr>
        <p:spPr>
          <a:xfrm>
            <a:off x="507987" y="1476474"/>
            <a:ext cx="5511662" cy="3430191"/>
          </a:xfrm>
          <a:prstGeom prst="rect">
            <a:avLst/>
          </a:prstGeom>
          <a:noFill/>
          <a:ln w="6350">
            <a:solidFill>
              <a:srgbClr val="D5DAE0"/>
            </a:solidFill>
            <a:prstDash val="solid"/>
          </a:ln>
          <a:effectLst>
            <a:outerShdw blurRad="30480" dist="11430" dir="5400000" algn="bl" rotWithShape="0">
              <a:srgbClr val="0B1F3A">
                <a:alpha val="1000"/>
              </a:srgbClr>
            </a:outerShdw>
          </a:effectLst>
        </p:spPr>
        <p:txBody>
          <a:bodyPr/>
          <a:lstStyle/>
          <a:p>
            <a:endParaRPr lang="en-US"/>
          </a:p>
        </p:txBody>
      </p:sp>
      <p:sp>
        <p:nvSpPr>
          <p:cNvPr id="6" name="Text 4"/>
          <p:cNvSpPr/>
          <p:nvPr/>
        </p:nvSpPr>
        <p:spPr>
          <a:xfrm>
            <a:off x="793730" y="1711424"/>
            <a:ext cx="5225919" cy="144760"/>
          </a:xfrm>
          <a:prstGeom prst="rect">
            <a:avLst/>
          </a:prstGeom>
          <a:noFill/>
          <a:ln/>
        </p:spPr>
        <p:txBody>
          <a:bodyPr wrap="none" lIns="0" tIns="0" rIns="0" bIns="0" rtlCol="0" anchor="t"/>
          <a:lstStyle/>
          <a:p>
            <a:pPr marL="0" indent="0" algn="l">
              <a:lnSpc>
                <a:spcPct val="100000"/>
              </a:lnSpc>
              <a:buNone/>
            </a:pPr>
            <a:r>
              <a:rPr lang="en-US" sz="950" b="1" kern="100" spc="76" dirty="0">
                <a:solidFill>
                  <a:srgbClr val="5B6573"/>
                </a:solidFill>
                <a:latin typeface="Arimo Bold" pitchFamily="34" charset="0"/>
                <a:ea typeface="Arimo Bold" pitchFamily="34" charset="-122"/>
                <a:cs typeface="Arimo Bold" pitchFamily="34" charset="-120"/>
              </a:rPr>
              <a:t>METHODS</a:t>
            </a:r>
            <a:endParaRPr lang="en-US" sz="950" dirty="0"/>
          </a:p>
        </p:txBody>
      </p:sp>
      <p:sp>
        <p:nvSpPr>
          <p:cNvPr id="7" name="Text 5"/>
          <p:cNvSpPr/>
          <p:nvPr/>
        </p:nvSpPr>
        <p:spPr>
          <a:xfrm>
            <a:off x="793730" y="1920478"/>
            <a:ext cx="4940176" cy="238125"/>
          </a:xfrm>
          <a:prstGeom prst="rect">
            <a:avLst/>
          </a:prstGeom>
          <a:noFill/>
          <a:ln/>
        </p:spPr>
        <p:txBody>
          <a:bodyPr wrap="none" lIns="0" tIns="0" rIns="0" bIns="0" rtlCol="0" anchor="t"/>
          <a:lstStyle/>
          <a:p>
            <a:pPr marL="0" indent="0" algn="l">
              <a:lnSpc>
                <a:spcPct val="104000"/>
              </a:lnSpc>
              <a:buNone/>
            </a:pPr>
            <a:r>
              <a:rPr lang="en-US" sz="1500" b="1" dirty="0">
                <a:solidFill>
                  <a:srgbClr val="0B1F3A"/>
                </a:solidFill>
                <a:latin typeface="Arimo Bold" pitchFamily="34" charset="0"/>
                <a:ea typeface="Arimo Bold" pitchFamily="34" charset="-122"/>
                <a:cs typeface="Arimo Bold" pitchFamily="34" charset="-120"/>
              </a:rPr>
              <a:t>Participant level (N = 2,000)</a:t>
            </a:r>
            <a:endParaRPr lang="en-US" sz="1500" dirty="0"/>
          </a:p>
        </p:txBody>
      </p:sp>
      <p:sp>
        <p:nvSpPr>
          <p:cNvPr id="8" name="Text 6"/>
          <p:cNvSpPr/>
          <p:nvPr/>
        </p:nvSpPr>
        <p:spPr>
          <a:xfrm>
            <a:off x="793730" y="2256234"/>
            <a:ext cx="4940176" cy="660400"/>
          </a:xfrm>
          <a:prstGeom prst="rect">
            <a:avLst/>
          </a:prstGeom>
          <a:noFill/>
          <a:ln/>
        </p:spPr>
        <p:txBody>
          <a:bodyPr wrap="square" lIns="0" tIns="0" rIns="0" bIns="0" rtlCol="0" anchor="t">
            <a:normAutofit/>
          </a:bodyPr>
          <a:lstStyle/>
          <a:p>
            <a:pPr marL="0" indent="0" algn="l">
              <a:lnSpc>
                <a:spcPct val="108000"/>
              </a:lnSpc>
              <a:buNone/>
            </a:pPr>
            <a:r>
              <a:rPr lang="en-US" sz="2000" dirty="0">
                <a:solidFill>
                  <a:srgbClr val="2B2F36"/>
                </a:solidFill>
                <a:latin typeface="Arimo" pitchFamily="34" charset="0"/>
                <a:ea typeface="Arimo" pitchFamily="34" charset="-122"/>
                <a:cs typeface="Arimo" pitchFamily="34" charset="-120"/>
              </a:rPr>
              <a:t>Chi-squared test of independence. Assumes independent participants.</a:t>
            </a:r>
            <a:endParaRPr lang="en-US" sz="2000" dirty="0"/>
          </a:p>
        </p:txBody>
      </p:sp>
      <p:sp>
        <p:nvSpPr>
          <p:cNvPr id="9" name="Text 7"/>
          <p:cNvSpPr/>
          <p:nvPr/>
        </p:nvSpPr>
        <p:spPr>
          <a:xfrm>
            <a:off x="793730" y="3047603"/>
            <a:ext cx="4940176" cy="238125"/>
          </a:xfrm>
          <a:prstGeom prst="rect">
            <a:avLst/>
          </a:prstGeom>
          <a:noFill/>
          <a:ln/>
        </p:spPr>
        <p:txBody>
          <a:bodyPr wrap="none" lIns="0" tIns="0" rIns="0" bIns="0" rtlCol="0" anchor="t"/>
          <a:lstStyle/>
          <a:p>
            <a:pPr marL="0" indent="0" algn="l">
              <a:lnSpc>
                <a:spcPct val="104000"/>
              </a:lnSpc>
              <a:buNone/>
            </a:pPr>
            <a:r>
              <a:rPr lang="en-US" sz="1500" b="1" dirty="0">
                <a:solidFill>
                  <a:srgbClr val="0B1F3A"/>
                </a:solidFill>
                <a:latin typeface="Arimo Bold" pitchFamily="34" charset="0"/>
                <a:ea typeface="Arimo Bold" pitchFamily="34" charset="-122"/>
                <a:cs typeface="Arimo Bold" pitchFamily="34" charset="-120"/>
              </a:rPr>
              <a:t>Program level (40 programs)</a:t>
            </a:r>
            <a:endParaRPr lang="en-US" sz="1500" dirty="0"/>
          </a:p>
        </p:txBody>
      </p:sp>
      <p:sp>
        <p:nvSpPr>
          <p:cNvPr id="10" name="Text 8"/>
          <p:cNvSpPr/>
          <p:nvPr/>
        </p:nvSpPr>
        <p:spPr>
          <a:xfrm>
            <a:off x="793730" y="3383359"/>
            <a:ext cx="4940176" cy="990600"/>
          </a:xfrm>
          <a:prstGeom prst="rect">
            <a:avLst/>
          </a:prstGeom>
          <a:noFill/>
          <a:ln/>
        </p:spPr>
        <p:txBody>
          <a:bodyPr wrap="square" lIns="0" tIns="0" rIns="0" bIns="0" rtlCol="0" anchor="t">
            <a:normAutofit/>
          </a:bodyPr>
          <a:lstStyle/>
          <a:p>
            <a:pPr marL="0" indent="0" algn="l">
              <a:lnSpc>
                <a:spcPct val="108000"/>
              </a:lnSpc>
              <a:buNone/>
            </a:pPr>
            <a:r>
              <a:rPr lang="en-US" sz="2000" dirty="0">
                <a:solidFill>
                  <a:srgbClr val="2B2F36"/>
                </a:solidFill>
                <a:latin typeface="Arimo" pitchFamily="34" charset="0"/>
                <a:ea typeface="Arimo" pitchFamily="34" charset="-122"/>
                <a:cs typeface="Arimo" pitchFamily="34" charset="-120"/>
              </a:rPr>
              <a:t>Two-sided Welch t-tests on 20 program rates per group. Assumes independent programs.</a:t>
            </a:r>
            <a:endParaRPr lang="en-US" sz="2000" dirty="0"/>
          </a:p>
        </p:txBody>
      </p:sp>
      <p:sp>
        <p:nvSpPr>
          <p:cNvPr id="11" name="Shape 9"/>
          <p:cNvSpPr/>
          <p:nvPr/>
        </p:nvSpPr>
        <p:spPr>
          <a:xfrm>
            <a:off x="6172046" y="1476474"/>
            <a:ext cx="5511662" cy="3430191"/>
          </a:xfrm>
          <a:prstGeom prst="rect">
            <a:avLst/>
          </a:prstGeom>
          <a:solidFill>
            <a:srgbClr val="F2F4F6"/>
          </a:solidFill>
          <a:ln w="6350">
            <a:solidFill>
              <a:srgbClr val="D5DAE0"/>
            </a:solidFill>
            <a:prstDash val="solid"/>
          </a:ln>
          <a:effectLst>
            <a:outerShdw blurRad="30480" dist="11430" dir="5400000" algn="bl" rotWithShape="0">
              <a:srgbClr val="0B1F3A">
                <a:alpha val="1000"/>
              </a:srgbClr>
            </a:outerShdw>
          </a:effectLst>
        </p:spPr>
        <p:txBody>
          <a:bodyPr/>
          <a:lstStyle/>
          <a:p>
            <a:endParaRPr lang="en-US"/>
          </a:p>
        </p:txBody>
      </p:sp>
      <p:sp>
        <p:nvSpPr>
          <p:cNvPr id="12" name="Text 10"/>
          <p:cNvSpPr/>
          <p:nvPr/>
        </p:nvSpPr>
        <p:spPr>
          <a:xfrm>
            <a:off x="6457788" y="1711424"/>
            <a:ext cx="5225919" cy="144760"/>
          </a:xfrm>
          <a:prstGeom prst="rect">
            <a:avLst/>
          </a:prstGeom>
          <a:noFill/>
          <a:ln/>
        </p:spPr>
        <p:txBody>
          <a:bodyPr wrap="none" lIns="0" tIns="0" rIns="0" bIns="0" rtlCol="0" anchor="t"/>
          <a:lstStyle/>
          <a:p>
            <a:pPr marL="0" indent="0" algn="l">
              <a:lnSpc>
                <a:spcPct val="100000"/>
              </a:lnSpc>
              <a:buNone/>
            </a:pPr>
            <a:r>
              <a:rPr lang="en-US" sz="950" b="1" kern="100" spc="76" dirty="0">
                <a:solidFill>
                  <a:srgbClr val="2B2F36"/>
                </a:solidFill>
                <a:latin typeface="Arimo Bold" pitchFamily="34" charset="0"/>
                <a:ea typeface="Arimo Bold" pitchFamily="34" charset="-122"/>
                <a:cs typeface="Arimo Bold" pitchFamily="34" charset="-120"/>
              </a:rPr>
              <a:t>RESULTS</a:t>
            </a:r>
            <a:endParaRPr lang="en-US" sz="950" dirty="0"/>
          </a:p>
        </p:txBody>
      </p:sp>
      <p:sp>
        <p:nvSpPr>
          <p:cNvPr id="13" name="Text 11"/>
          <p:cNvSpPr/>
          <p:nvPr/>
        </p:nvSpPr>
        <p:spPr>
          <a:xfrm>
            <a:off x="6457788" y="1920478"/>
            <a:ext cx="4940176" cy="238125"/>
          </a:xfrm>
          <a:prstGeom prst="rect">
            <a:avLst/>
          </a:prstGeom>
          <a:noFill/>
          <a:ln/>
        </p:spPr>
        <p:txBody>
          <a:bodyPr wrap="none" lIns="0" tIns="0" rIns="0" bIns="0" rtlCol="0" anchor="t"/>
          <a:lstStyle/>
          <a:p>
            <a:pPr marL="0" indent="0" algn="l">
              <a:lnSpc>
                <a:spcPct val="104000"/>
              </a:lnSpc>
              <a:buNone/>
            </a:pPr>
            <a:r>
              <a:rPr lang="en-US" sz="1500" b="1" dirty="0">
                <a:solidFill>
                  <a:srgbClr val="2B2F36"/>
                </a:solidFill>
                <a:latin typeface="Arimo Bold" pitchFamily="34" charset="0"/>
                <a:ea typeface="Arimo Bold" pitchFamily="34" charset="-122"/>
                <a:cs typeface="Arimo Bold" pitchFamily="34" charset="-120"/>
              </a:rPr>
              <a:t>Participant level</a:t>
            </a:r>
            <a:endParaRPr lang="en-US" sz="1500" dirty="0"/>
          </a:p>
        </p:txBody>
      </p:sp>
      <p:sp>
        <p:nvSpPr>
          <p:cNvPr id="14" name="Text 12"/>
          <p:cNvSpPr/>
          <p:nvPr/>
        </p:nvSpPr>
        <p:spPr>
          <a:xfrm>
            <a:off x="6457788" y="2256234"/>
            <a:ext cx="5225919" cy="348555"/>
          </a:xfrm>
          <a:prstGeom prst="rect">
            <a:avLst/>
          </a:prstGeom>
          <a:noFill/>
          <a:ln/>
        </p:spPr>
        <p:txBody>
          <a:bodyPr wrap="none" lIns="0" tIns="0" rIns="0" bIns="0" rtlCol="0" anchor="t"/>
          <a:lstStyle/>
          <a:p>
            <a:pPr marL="0" indent="0" algn="l">
              <a:lnSpc>
                <a:spcPct val="108000"/>
              </a:lnSpc>
              <a:buNone/>
            </a:pPr>
            <a:r>
              <a:rPr lang="en-US" sz="2000" dirty="0">
                <a:solidFill>
                  <a:srgbClr val="2B2F36"/>
                </a:solidFill>
                <a:latin typeface="Arimo" pitchFamily="34" charset="0"/>
                <a:ea typeface="Arimo" pitchFamily="34" charset="-122"/>
                <a:cs typeface="Arimo" pitchFamily="34" charset="-120"/>
              </a:rPr>
              <a:t>Completion </a:t>
            </a:r>
            <a:r>
              <a:rPr lang="en-US" sz="1900" i="1" dirty="0">
                <a:solidFill>
                  <a:srgbClr val="2B2F36"/>
                </a:solidFill>
                <a:latin typeface="Arimo" pitchFamily="34" charset="0"/>
                <a:ea typeface="Arimo" pitchFamily="34" charset="-122"/>
                <a:cs typeface="Arimo" pitchFamily="34" charset="-120"/>
              </a:rPr>
              <a:t>     </a:t>
            </a:r>
            <a:r>
              <a:rPr lang="en-US" sz="2000" dirty="0">
                <a:solidFill>
                  <a:srgbClr val="2B2F36"/>
                </a:solidFill>
                <a:latin typeface="Arimo" pitchFamily="34" charset="0"/>
                <a:ea typeface="Arimo" pitchFamily="34" charset="-122"/>
                <a:cs typeface="Arimo" pitchFamily="34" charset="-120"/>
              </a:rPr>
              <a:t> · Outcome </a:t>
            </a:r>
            <a:r>
              <a:rPr lang="en-US" sz="1900" i="1" dirty="0">
                <a:solidFill>
                  <a:srgbClr val="2B2F36"/>
                </a:solidFill>
                <a:latin typeface="Arimo" pitchFamily="34" charset="0"/>
                <a:ea typeface="Arimo" pitchFamily="34" charset="-122"/>
                <a:cs typeface="Arimo" pitchFamily="34" charset="-120"/>
              </a:rPr>
              <a:t>     </a:t>
            </a:r>
            <a:endParaRPr lang="en-US" sz="2000" dirty="0"/>
          </a:p>
        </p:txBody>
      </p:sp>
      <p:pic>
        <p:nvPicPr>
          <p:cNvPr id="15" name="Image 0" descr="preencoded.png"/>
          <p:cNvPicPr>
            <a:picLocks noChangeAspect="1"/>
          </p:cNvPicPr>
          <p:nvPr/>
        </p:nvPicPr>
        <p:blipFill>
          <a:blip r:embed="rId3"/>
          <a:stretch>
            <a:fillRect/>
          </a:stretch>
        </p:blipFill>
        <p:spPr>
          <a:xfrm>
            <a:off x="7813083" y="2284809"/>
            <a:ext cx="1051792" cy="316805"/>
          </a:xfrm>
          <a:prstGeom prst="rect">
            <a:avLst/>
          </a:prstGeom>
        </p:spPr>
      </p:pic>
      <p:pic>
        <p:nvPicPr>
          <p:cNvPr id="16" name="Image 1" descr="preencoded.png"/>
          <p:cNvPicPr>
            <a:picLocks noChangeAspect="1"/>
          </p:cNvPicPr>
          <p:nvPr/>
        </p:nvPicPr>
        <p:blipFill>
          <a:blip r:embed="rId3"/>
          <a:stretch>
            <a:fillRect/>
          </a:stretch>
        </p:blipFill>
        <p:spPr>
          <a:xfrm>
            <a:off x="10191693" y="2284809"/>
            <a:ext cx="1051792" cy="316805"/>
          </a:xfrm>
          <a:prstGeom prst="rect">
            <a:avLst/>
          </a:prstGeom>
        </p:spPr>
      </p:pic>
      <p:sp>
        <p:nvSpPr>
          <p:cNvPr id="17" name="Text 13"/>
          <p:cNvSpPr/>
          <p:nvPr/>
        </p:nvSpPr>
        <p:spPr>
          <a:xfrm>
            <a:off x="6457788" y="2735759"/>
            <a:ext cx="4940176" cy="238125"/>
          </a:xfrm>
          <a:prstGeom prst="rect">
            <a:avLst/>
          </a:prstGeom>
          <a:noFill/>
          <a:ln/>
        </p:spPr>
        <p:txBody>
          <a:bodyPr wrap="none" lIns="0" tIns="0" rIns="0" bIns="0" rtlCol="0" anchor="t"/>
          <a:lstStyle/>
          <a:p>
            <a:pPr marL="0" indent="0" algn="l">
              <a:lnSpc>
                <a:spcPct val="104000"/>
              </a:lnSpc>
              <a:buNone/>
            </a:pPr>
            <a:r>
              <a:rPr lang="en-US" sz="1500" b="1" dirty="0">
                <a:solidFill>
                  <a:srgbClr val="2B2F36"/>
                </a:solidFill>
                <a:latin typeface="Arimo Bold" pitchFamily="34" charset="0"/>
                <a:ea typeface="Arimo Bold" pitchFamily="34" charset="-122"/>
                <a:cs typeface="Arimo Bold" pitchFamily="34" charset="-120"/>
              </a:rPr>
              <a:t>Program level</a:t>
            </a:r>
            <a:endParaRPr lang="en-US" sz="1500" dirty="0"/>
          </a:p>
        </p:txBody>
      </p:sp>
      <p:sp>
        <p:nvSpPr>
          <p:cNvPr id="18" name="Text 14"/>
          <p:cNvSpPr/>
          <p:nvPr/>
        </p:nvSpPr>
        <p:spPr>
          <a:xfrm>
            <a:off x="6457788" y="3071515"/>
            <a:ext cx="5225919" cy="348555"/>
          </a:xfrm>
          <a:prstGeom prst="rect">
            <a:avLst/>
          </a:prstGeom>
          <a:noFill/>
          <a:ln/>
        </p:spPr>
        <p:txBody>
          <a:bodyPr wrap="none" lIns="0" tIns="0" rIns="0" bIns="0" rtlCol="0" anchor="t"/>
          <a:lstStyle/>
          <a:p>
            <a:pPr marL="0" indent="0" algn="l">
              <a:lnSpc>
                <a:spcPct val="108000"/>
              </a:lnSpc>
              <a:buNone/>
            </a:pPr>
            <a:r>
              <a:rPr lang="en-US" sz="2000" dirty="0">
                <a:solidFill>
                  <a:srgbClr val="2B2F36"/>
                </a:solidFill>
                <a:latin typeface="Arimo" pitchFamily="34" charset="0"/>
                <a:ea typeface="Arimo" pitchFamily="34" charset="-122"/>
                <a:cs typeface="Arimo" pitchFamily="34" charset="-120"/>
              </a:rPr>
              <a:t>Completion </a:t>
            </a:r>
            <a:r>
              <a:rPr lang="en-US" sz="1900" i="1" dirty="0">
                <a:solidFill>
                  <a:srgbClr val="2B2F36"/>
                </a:solidFill>
                <a:latin typeface="Arimo" pitchFamily="34" charset="0"/>
                <a:ea typeface="Arimo" pitchFamily="34" charset="-122"/>
                <a:cs typeface="Arimo" pitchFamily="34" charset="-120"/>
              </a:rPr>
              <a:t>     </a:t>
            </a:r>
            <a:r>
              <a:rPr lang="en-US" sz="2000" dirty="0">
                <a:solidFill>
                  <a:srgbClr val="2B2F36"/>
                </a:solidFill>
                <a:latin typeface="Arimo" pitchFamily="34" charset="0"/>
                <a:ea typeface="Arimo" pitchFamily="34" charset="-122"/>
                <a:cs typeface="Arimo" pitchFamily="34" charset="-120"/>
              </a:rPr>
              <a:t> · Outcome </a:t>
            </a:r>
            <a:r>
              <a:rPr lang="en-US" sz="1900" i="1" dirty="0">
                <a:solidFill>
                  <a:srgbClr val="2B2F36"/>
                </a:solidFill>
                <a:latin typeface="Arimo" pitchFamily="34" charset="0"/>
                <a:ea typeface="Arimo" pitchFamily="34" charset="-122"/>
                <a:cs typeface="Arimo" pitchFamily="34" charset="-120"/>
              </a:rPr>
              <a:t>     </a:t>
            </a:r>
            <a:endParaRPr lang="en-US" sz="2000" dirty="0"/>
          </a:p>
        </p:txBody>
      </p:sp>
      <p:pic>
        <p:nvPicPr>
          <p:cNvPr id="19" name="Image 2" descr="preencoded.png"/>
          <p:cNvPicPr>
            <a:picLocks noChangeAspect="1"/>
          </p:cNvPicPr>
          <p:nvPr/>
        </p:nvPicPr>
        <p:blipFill>
          <a:blip r:embed="rId3"/>
          <a:stretch>
            <a:fillRect/>
          </a:stretch>
        </p:blipFill>
        <p:spPr>
          <a:xfrm>
            <a:off x="7813083" y="3100090"/>
            <a:ext cx="1051792" cy="316805"/>
          </a:xfrm>
          <a:prstGeom prst="rect">
            <a:avLst/>
          </a:prstGeom>
        </p:spPr>
      </p:pic>
      <p:pic>
        <p:nvPicPr>
          <p:cNvPr id="20" name="Image 3" descr="preencoded.png"/>
          <p:cNvPicPr>
            <a:picLocks noChangeAspect="1"/>
          </p:cNvPicPr>
          <p:nvPr/>
        </p:nvPicPr>
        <p:blipFill>
          <a:blip r:embed="rId3"/>
          <a:stretch>
            <a:fillRect/>
          </a:stretch>
        </p:blipFill>
        <p:spPr>
          <a:xfrm>
            <a:off x="10191693" y="3100090"/>
            <a:ext cx="1051792" cy="316805"/>
          </a:xfrm>
          <a:prstGeom prst="rect">
            <a:avLst/>
          </a:prstGeom>
        </p:spPr>
      </p:pic>
      <p:sp>
        <p:nvSpPr>
          <p:cNvPr id="21" name="Shape 15"/>
          <p:cNvSpPr/>
          <p:nvPr/>
        </p:nvSpPr>
        <p:spPr>
          <a:xfrm>
            <a:off x="507987" y="5084465"/>
            <a:ext cx="11175720" cy="965200"/>
          </a:xfrm>
          <a:prstGeom prst="rect">
            <a:avLst/>
          </a:prstGeom>
          <a:solidFill>
            <a:srgbClr val="F2F4F6"/>
          </a:solidFill>
          <a:ln/>
        </p:spPr>
        <p:txBody>
          <a:bodyPr/>
          <a:lstStyle/>
          <a:p>
            <a:endParaRPr lang="en-US"/>
          </a:p>
        </p:txBody>
      </p:sp>
      <p:sp>
        <p:nvSpPr>
          <p:cNvPr id="22" name="Shape 16"/>
          <p:cNvSpPr/>
          <p:nvPr/>
        </p:nvSpPr>
        <p:spPr>
          <a:xfrm>
            <a:off x="507987" y="5084465"/>
            <a:ext cx="38099" cy="965200"/>
          </a:xfrm>
          <a:prstGeom prst="rect">
            <a:avLst/>
          </a:prstGeom>
          <a:solidFill>
            <a:srgbClr val="C0102F"/>
          </a:solidFill>
          <a:ln/>
        </p:spPr>
        <p:txBody>
          <a:bodyPr/>
          <a:lstStyle/>
          <a:p>
            <a:endParaRPr lang="en-US"/>
          </a:p>
        </p:txBody>
      </p:sp>
      <p:sp>
        <p:nvSpPr>
          <p:cNvPr id="23" name="Text 17"/>
          <p:cNvSpPr/>
          <p:nvPr/>
        </p:nvSpPr>
        <p:spPr>
          <a:xfrm>
            <a:off x="774681" y="5240040"/>
            <a:ext cx="10680433" cy="660400"/>
          </a:xfrm>
          <a:prstGeom prst="rect">
            <a:avLst/>
          </a:prstGeom>
          <a:noFill/>
          <a:ln/>
        </p:spPr>
        <p:txBody>
          <a:bodyPr wrap="square" lIns="0" tIns="0" rIns="0" bIns="0" rtlCol="0" anchor="t">
            <a:normAutofit/>
          </a:bodyPr>
          <a:lstStyle/>
          <a:p>
            <a:pPr marL="0" indent="0" algn="l">
              <a:lnSpc>
                <a:spcPct val="108000"/>
              </a:lnSpc>
              <a:buNone/>
            </a:pPr>
            <a:r>
              <a:rPr lang="en-US" sz="2000" b="1" dirty="0">
                <a:solidFill>
                  <a:srgbClr val="2B2F36"/>
                </a:solidFill>
                <a:latin typeface="Arimo Bold" pitchFamily="34" charset="0"/>
                <a:ea typeface="Arimo Bold" pitchFamily="34" charset="-122"/>
                <a:cs typeface="Arimo Bold" pitchFamily="34" charset="-120"/>
              </a:rPr>
              <a:t>Caveat:</a:t>
            </a:r>
            <a:r>
              <a:rPr lang="en-US" sz="2000" dirty="0">
                <a:solidFill>
                  <a:srgbClr val="2B2F36"/>
                </a:solidFill>
                <a:latin typeface="Arimo" pitchFamily="34" charset="0"/>
                <a:ea typeface="Arimo" pitchFamily="34" charset="-122"/>
                <a:cs typeface="Arimo" pitchFamily="34" charset="-120"/>
              </a:rPr>
              <a:t> Assignment and baseline comparability are unconfirmed. Statistical significance does not establish causation or financial value.</a:t>
            </a:r>
            <a:endParaRPr lang="en-US" sz="2000" dirty="0"/>
          </a:p>
        </p:txBody>
      </p:sp>
      <p:sp>
        <p:nvSpPr>
          <p:cNvPr id="26" name="Text 20"/>
          <p:cNvSpPr/>
          <p:nvPr/>
        </p:nvSpPr>
        <p:spPr>
          <a:xfrm>
            <a:off x="11620209" y="6555085"/>
            <a:ext cx="571486" cy="148530"/>
          </a:xfrm>
          <a:prstGeom prst="rect">
            <a:avLst/>
          </a:prstGeom>
          <a:noFill/>
          <a:ln/>
        </p:spPr>
        <p:txBody>
          <a:bodyPr wrap="none" lIns="0" tIns="0" rIns="0" bIns="0" rtlCol="0" anchor="ctr"/>
          <a:lstStyle/>
          <a:p>
            <a:pPr marL="0" indent="0" algn="l">
              <a:lnSpc>
                <a:spcPct val="108000"/>
              </a:lnSpc>
              <a:buNone/>
            </a:pPr>
            <a:r>
              <a:rPr lang="en-US" sz="900" dirty="0">
                <a:solidFill>
                  <a:srgbClr val="2B2F36"/>
                </a:solidFill>
                <a:latin typeface="Arimo" pitchFamily="34" charset="0"/>
                <a:ea typeface="Arimo" pitchFamily="34" charset="-122"/>
                <a:cs typeface="Arimo"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07987" y="508000"/>
            <a:ext cx="11683708" cy="144760"/>
          </a:xfrm>
          <a:prstGeom prst="rect">
            <a:avLst/>
          </a:prstGeom>
          <a:noFill/>
          <a:ln/>
        </p:spPr>
        <p:txBody>
          <a:bodyPr wrap="none" lIns="0" tIns="0" rIns="0" bIns="0" rtlCol="0" anchor="t"/>
          <a:lstStyle/>
          <a:p>
            <a:pPr marL="0" indent="0" algn="l">
              <a:lnSpc>
                <a:spcPct val="100000"/>
              </a:lnSpc>
              <a:buNone/>
            </a:pPr>
            <a:r>
              <a:rPr lang="en-US" sz="950" b="1" kern="100" spc="76" dirty="0">
                <a:solidFill>
                  <a:srgbClr val="5B6573"/>
                </a:solidFill>
                <a:latin typeface="Arimo Bold" pitchFamily="34" charset="0"/>
                <a:ea typeface="Arimo Bold" pitchFamily="34" charset="-122"/>
                <a:cs typeface="Arimo Bold" pitchFamily="34" charset="-120"/>
              </a:rPr>
              <a:t>FINANCIAL EVALUATION &amp; EFFICIENCY ECONOMICS</a:t>
            </a:r>
            <a:endParaRPr lang="en-US" sz="950" dirty="0"/>
          </a:p>
        </p:txBody>
      </p:sp>
      <p:sp>
        <p:nvSpPr>
          <p:cNvPr id="3" name="Text 1"/>
          <p:cNvSpPr/>
          <p:nvPr/>
        </p:nvSpPr>
        <p:spPr>
          <a:xfrm>
            <a:off x="507987" y="715879"/>
            <a:ext cx="11175720" cy="398264"/>
          </a:xfrm>
          <a:prstGeom prst="rect">
            <a:avLst/>
          </a:prstGeom>
          <a:noFill/>
          <a:ln/>
        </p:spPr>
        <p:txBody>
          <a:bodyPr wrap="none" lIns="0" tIns="0" rIns="0" bIns="0" rtlCol="0" anchor="t"/>
          <a:lstStyle/>
          <a:p>
            <a:pPr marL="0" indent="0" algn="l">
              <a:lnSpc>
                <a:spcPct val="93000"/>
              </a:lnSpc>
              <a:buNone/>
            </a:pPr>
            <a:r>
              <a:rPr lang="en-US" sz="2800" b="1" kern="100" spc="-14" dirty="0">
                <a:solidFill>
                  <a:srgbClr val="0B1F3A"/>
                </a:solidFill>
                <a:latin typeface="Arimo Bold" pitchFamily="34" charset="0"/>
                <a:ea typeface="Arimo Bold" pitchFamily="34" charset="-122"/>
                <a:cs typeface="Arimo Bold" pitchFamily="34" charset="-120"/>
              </a:rPr>
              <a:t>Cost-effectiveness is about AUD727 per observed additional result</a:t>
            </a:r>
            <a:endParaRPr lang="en-US" sz="2800" dirty="0"/>
          </a:p>
        </p:txBody>
      </p:sp>
      <p:sp>
        <p:nvSpPr>
          <p:cNvPr id="4" name="Shape 2"/>
          <p:cNvSpPr/>
          <p:nvPr/>
        </p:nvSpPr>
        <p:spPr>
          <a:xfrm>
            <a:off x="507987" y="1291630"/>
            <a:ext cx="11175621" cy="19050"/>
          </a:xfrm>
          <a:prstGeom prst="roundRect">
            <a:avLst>
              <a:gd name="adj" fmla="val 49999"/>
            </a:avLst>
          </a:prstGeom>
          <a:solidFill>
            <a:srgbClr val="D5DAE0"/>
          </a:solidFill>
          <a:ln/>
        </p:spPr>
        <p:txBody>
          <a:bodyPr/>
          <a:lstStyle/>
          <a:p>
            <a:endParaRPr lang="en-US"/>
          </a:p>
        </p:txBody>
      </p:sp>
      <p:sp>
        <p:nvSpPr>
          <p:cNvPr id="5" name="Text 3"/>
          <p:cNvSpPr/>
          <p:nvPr/>
        </p:nvSpPr>
        <p:spPr>
          <a:xfrm>
            <a:off x="507987" y="1677710"/>
            <a:ext cx="3496580" cy="426641"/>
          </a:xfrm>
          <a:prstGeom prst="rect">
            <a:avLst/>
          </a:prstGeom>
          <a:noFill/>
          <a:ln/>
        </p:spPr>
        <p:txBody>
          <a:bodyPr wrap="none" lIns="0" tIns="0" rIns="0" bIns="0" rtlCol="0" anchor="t"/>
          <a:lstStyle/>
          <a:p>
            <a:pPr marL="0" indent="0" algn="l">
              <a:lnSpc>
                <a:spcPct val="87000"/>
              </a:lnSpc>
              <a:buNone/>
            </a:pPr>
            <a:r>
              <a:rPr lang="en-US" sz="3200" b="1" kern="100" spc="-32" dirty="0">
                <a:solidFill>
                  <a:srgbClr val="0B1F3A"/>
                </a:solidFill>
                <a:latin typeface="Arimo Bold" pitchFamily="34" charset="0"/>
                <a:ea typeface="Arimo Bold" pitchFamily="34" charset="-122"/>
                <a:cs typeface="Arimo Bold" pitchFamily="34" charset="-120"/>
              </a:rPr>
              <a:t>AUD80,000</a:t>
            </a:r>
            <a:endParaRPr lang="en-US" sz="3200" dirty="0"/>
          </a:p>
        </p:txBody>
      </p:sp>
      <p:sp>
        <p:nvSpPr>
          <p:cNvPr id="6" name="Text 4"/>
          <p:cNvSpPr/>
          <p:nvPr/>
        </p:nvSpPr>
        <p:spPr>
          <a:xfrm>
            <a:off x="507987" y="2171501"/>
            <a:ext cx="3496580" cy="206375"/>
          </a:xfrm>
          <a:prstGeom prst="rect">
            <a:avLst/>
          </a:prstGeom>
          <a:noFill/>
          <a:ln/>
        </p:spPr>
        <p:txBody>
          <a:bodyPr wrap="none" lIns="0" tIns="0" rIns="0" bIns="0" rtlCol="0" anchor="t"/>
          <a:lstStyle/>
          <a:p>
            <a:pPr marL="0" indent="0" algn="l">
              <a:lnSpc>
                <a:spcPct val="104000"/>
              </a:lnSpc>
              <a:buNone/>
            </a:pPr>
            <a:r>
              <a:rPr lang="en-US" sz="1300" b="1" dirty="0">
                <a:solidFill>
                  <a:srgbClr val="0B1F3A"/>
                </a:solidFill>
                <a:latin typeface="Arimo Bold" pitchFamily="34" charset="0"/>
                <a:ea typeface="Arimo Bold" pitchFamily="34" charset="-122"/>
                <a:cs typeface="Arimo Bold" pitchFamily="34" charset="-120"/>
              </a:rPr>
              <a:t>Estimated pilot add-on cost</a:t>
            </a:r>
            <a:endParaRPr lang="en-US" sz="1300" dirty="0"/>
          </a:p>
        </p:txBody>
      </p:sp>
      <p:sp>
        <p:nvSpPr>
          <p:cNvPr id="7" name="Text 5"/>
          <p:cNvSpPr/>
          <p:nvPr/>
        </p:nvSpPr>
        <p:spPr>
          <a:xfrm>
            <a:off x="507987" y="2478207"/>
            <a:ext cx="3725174" cy="173335"/>
          </a:xfrm>
          <a:prstGeom prst="rect">
            <a:avLst/>
          </a:prstGeom>
          <a:noFill/>
          <a:ln/>
        </p:spPr>
        <p:txBody>
          <a:bodyPr wrap="none" lIns="0" tIns="0" rIns="0" bIns="0" rtlCol="0" anchor="t"/>
          <a:lstStyle/>
          <a:p>
            <a:pPr marL="0" indent="0" algn="l">
              <a:lnSpc>
                <a:spcPct val="108000"/>
              </a:lnSpc>
              <a:buNone/>
            </a:pPr>
            <a:r>
              <a:rPr lang="en-US" sz="1050" dirty="0">
                <a:solidFill>
                  <a:srgbClr val="5B6573"/>
                </a:solidFill>
                <a:latin typeface="Arimo" pitchFamily="34" charset="0"/>
                <a:ea typeface="Arimo" pitchFamily="34" charset="-122"/>
                <a:cs typeface="Arimo" pitchFamily="34" charset="-120"/>
              </a:rPr>
              <a:t>AUD4,000 per program × 20 mentor programs</a:t>
            </a:r>
            <a:endParaRPr lang="en-US" sz="1050" dirty="0"/>
          </a:p>
        </p:txBody>
      </p:sp>
      <p:sp>
        <p:nvSpPr>
          <p:cNvPr id="8" name="Text 6"/>
          <p:cNvSpPr/>
          <p:nvPr/>
        </p:nvSpPr>
        <p:spPr>
          <a:xfrm>
            <a:off x="4461756" y="1677710"/>
            <a:ext cx="3268085" cy="426641"/>
          </a:xfrm>
          <a:prstGeom prst="rect">
            <a:avLst/>
          </a:prstGeom>
          <a:noFill/>
          <a:ln/>
        </p:spPr>
        <p:txBody>
          <a:bodyPr wrap="none" lIns="0" tIns="0" rIns="0" bIns="0" rtlCol="0" anchor="t"/>
          <a:lstStyle/>
          <a:p>
            <a:pPr marL="0" indent="0" algn="l">
              <a:lnSpc>
                <a:spcPct val="87000"/>
              </a:lnSpc>
              <a:buNone/>
            </a:pPr>
            <a:r>
              <a:rPr lang="en-US" sz="3200" b="1" kern="100" spc="-32" dirty="0">
                <a:solidFill>
                  <a:srgbClr val="0B1F3A"/>
                </a:solidFill>
                <a:latin typeface="Arimo Bold" pitchFamily="34" charset="0"/>
                <a:ea typeface="Arimo Bold" pitchFamily="34" charset="-122"/>
                <a:cs typeface="Arimo Bold" pitchFamily="34" charset="-120"/>
              </a:rPr>
              <a:t>AUD727.27</a:t>
            </a:r>
            <a:endParaRPr lang="en-US" sz="3200" dirty="0"/>
          </a:p>
        </p:txBody>
      </p:sp>
      <p:sp>
        <p:nvSpPr>
          <p:cNvPr id="9" name="Text 7"/>
          <p:cNvSpPr/>
          <p:nvPr/>
        </p:nvSpPr>
        <p:spPr>
          <a:xfrm>
            <a:off x="4461756" y="2171501"/>
            <a:ext cx="3268085" cy="206375"/>
          </a:xfrm>
          <a:prstGeom prst="rect">
            <a:avLst/>
          </a:prstGeom>
          <a:noFill/>
          <a:ln/>
        </p:spPr>
        <p:txBody>
          <a:bodyPr wrap="none" lIns="0" tIns="0" rIns="0" bIns="0" rtlCol="0" anchor="t"/>
          <a:lstStyle/>
          <a:p>
            <a:pPr marL="0" indent="0" algn="l">
              <a:lnSpc>
                <a:spcPct val="104000"/>
              </a:lnSpc>
              <a:buNone/>
            </a:pPr>
            <a:r>
              <a:rPr lang="en-US" sz="1300" b="1" dirty="0">
                <a:solidFill>
                  <a:srgbClr val="0B1F3A"/>
                </a:solidFill>
                <a:latin typeface="Arimo Bold" pitchFamily="34" charset="0"/>
                <a:ea typeface="Arimo Bold" pitchFamily="34" charset="-122"/>
                <a:cs typeface="Arimo Bold" pitchFamily="34" charset="-120"/>
              </a:rPr>
              <a:t>Cost per additional completion</a:t>
            </a:r>
            <a:endParaRPr lang="en-US" sz="1300" dirty="0"/>
          </a:p>
        </p:txBody>
      </p:sp>
      <p:sp>
        <p:nvSpPr>
          <p:cNvPr id="10" name="Text 8"/>
          <p:cNvSpPr/>
          <p:nvPr/>
        </p:nvSpPr>
        <p:spPr>
          <a:xfrm>
            <a:off x="4461756" y="2478207"/>
            <a:ext cx="3496679" cy="173335"/>
          </a:xfrm>
          <a:prstGeom prst="rect">
            <a:avLst/>
          </a:prstGeom>
          <a:noFill/>
          <a:ln/>
        </p:spPr>
        <p:txBody>
          <a:bodyPr wrap="none" lIns="0" tIns="0" rIns="0" bIns="0" rtlCol="0" anchor="t"/>
          <a:lstStyle/>
          <a:p>
            <a:pPr marL="0" indent="0" algn="l">
              <a:lnSpc>
                <a:spcPct val="108000"/>
              </a:lnSpc>
              <a:buNone/>
            </a:pPr>
            <a:r>
              <a:rPr lang="en-US" sz="1050" dirty="0">
                <a:solidFill>
                  <a:srgbClr val="5B6573"/>
                </a:solidFill>
                <a:latin typeface="Arimo" pitchFamily="34" charset="0"/>
                <a:ea typeface="Arimo" pitchFamily="34" charset="-122"/>
                <a:cs typeface="Arimo" pitchFamily="34" charset="-120"/>
              </a:rPr>
              <a:t>AUD80,000 ÷ 110 additional completions observed</a:t>
            </a:r>
            <a:endParaRPr lang="en-US" sz="1050" dirty="0"/>
          </a:p>
        </p:txBody>
      </p:sp>
      <p:sp>
        <p:nvSpPr>
          <p:cNvPr id="11" name="Text 9"/>
          <p:cNvSpPr/>
          <p:nvPr/>
        </p:nvSpPr>
        <p:spPr>
          <a:xfrm>
            <a:off x="8187029" y="1677710"/>
            <a:ext cx="3496679" cy="426641"/>
          </a:xfrm>
          <a:prstGeom prst="rect">
            <a:avLst/>
          </a:prstGeom>
          <a:noFill/>
          <a:ln/>
        </p:spPr>
        <p:txBody>
          <a:bodyPr wrap="none" lIns="0" tIns="0" rIns="0" bIns="0" rtlCol="0" anchor="t"/>
          <a:lstStyle/>
          <a:p>
            <a:pPr marL="0" indent="0" algn="l">
              <a:lnSpc>
                <a:spcPct val="87000"/>
              </a:lnSpc>
              <a:buNone/>
            </a:pPr>
            <a:r>
              <a:rPr lang="en-US" sz="3200" b="1" kern="100" spc="-32" dirty="0">
                <a:solidFill>
                  <a:srgbClr val="0B1F3A"/>
                </a:solidFill>
                <a:latin typeface="Arimo Bold" pitchFamily="34" charset="0"/>
                <a:ea typeface="Arimo Bold" pitchFamily="34" charset="-122"/>
                <a:cs typeface="Arimo Bold" pitchFamily="34" charset="-120"/>
              </a:rPr>
              <a:t>AUD727.27</a:t>
            </a:r>
            <a:endParaRPr lang="en-US" sz="3200" dirty="0"/>
          </a:p>
        </p:txBody>
      </p:sp>
      <p:sp>
        <p:nvSpPr>
          <p:cNvPr id="12" name="Text 10"/>
          <p:cNvSpPr/>
          <p:nvPr/>
        </p:nvSpPr>
        <p:spPr>
          <a:xfrm>
            <a:off x="8187029" y="2171501"/>
            <a:ext cx="3496679" cy="206375"/>
          </a:xfrm>
          <a:prstGeom prst="rect">
            <a:avLst/>
          </a:prstGeom>
          <a:noFill/>
          <a:ln/>
        </p:spPr>
        <p:txBody>
          <a:bodyPr wrap="none" lIns="0" tIns="0" rIns="0" bIns="0" rtlCol="0" anchor="t"/>
          <a:lstStyle/>
          <a:p>
            <a:pPr marL="0" indent="0" algn="l">
              <a:lnSpc>
                <a:spcPct val="104000"/>
              </a:lnSpc>
              <a:buNone/>
            </a:pPr>
            <a:r>
              <a:rPr lang="en-US" sz="1300" b="1" dirty="0">
                <a:solidFill>
                  <a:srgbClr val="0B1F3A"/>
                </a:solidFill>
                <a:latin typeface="Arimo Bold" pitchFamily="34" charset="0"/>
                <a:ea typeface="Arimo Bold" pitchFamily="34" charset="-122"/>
                <a:cs typeface="Arimo Bold" pitchFamily="34" charset="-120"/>
              </a:rPr>
              <a:t>Cost per additional outcome</a:t>
            </a:r>
            <a:endParaRPr lang="en-US" sz="1300" dirty="0"/>
          </a:p>
        </p:txBody>
      </p:sp>
      <p:sp>
        <p:nvSpPr>
          <p:cNvPr id="13" name="Text 11"/>
          <p:cNvSpPr/>
          <p:nvPr/>
        </p:nvSpPr>
        <p:spPr>
          <a:xfrm>
            <a:off x="8187029" y="2478207"/>
            <a:ext cx="3496679" cy="173335"/>
          </a:xfrm>
          <a:prstGeom prst="rect">
            <a:avLst/>
          </a:prstGeom>
          <a:noFill/>
          <a:ln/>
        </p:spPr>
        <p:txBody>
          <a:bodyPr wrap="none" lIns="0" tIns="0" rIns="0" bIns="0" rtlCol="0" anchor="t"/>
          <a:lstStyle/>
          <a:p>
            <a:pPr marL="0" indent="0" algn="l">
              <a:lnSpc>
                <a:spcPct val="108000"/>
              </a:lnSpc>
              <a:buNone/>
            </a:pPr>
            <a:r>
              <a:rPr lang="en-US" sz="1050" dirty="0">
                <a:solidFill>
                  <a:srgbClr val="5B6573"/>
                </a:solidFill>
                <a:latin typeface="Arimo" pitchFamily="34" charset="0"/>
                <a:ea typeface="Arimo" pitchFamily="34" charset="-122"/>
                <a:cs typeface="Arimo" pitchFamily="34" charset="-120"/>
              </a:rPr>
              <a:t>AUD80,000 ÷ 110 additional outcomes observed</a:t>
            </a:r>
            <a:endParaRPr lang="en-US" sz="1050" dirty="0"/>
          </a:p>
        </p:txBody>
      </p:sp>
      <p:sp>
        <p:nvSpPr>
          <p:cNvPr id="14" name="Shape 12"/>
          <p:cNvSpPr/>
          <p:nvPr/>
        </p:nvSpPr>
        <p:spPr>
          <a:xfrm>
            <a:off x="507987" y="2799655"/>
            <a:ext cx="5511662" cy="38100"/>
          </a:xfrm>
          <a:prstGeom prst="rect">
            <a:avLst/>
          </a:prstGeom>
          <a:solidFill>
            <a:srgbClr val="0B1F3A"/>
          </a:solidFill>
          <a:ln/>
        </p:spPr>
        <p:txBody>
          <a:bodyPr/>
          <a:lstStyle/>
          <a:p>
            <a:endParaRPr lang="en-US"/>
          </a:p>
        </p:txBody>
      </p:sp>
      <p:sp>
        <p:nvSpPr>
          <p:cNvPr id="15" name="Text 13"/>
          <p:cNvSpPr/>
          <p:nvPr/>
        </p:nvSpPr>
        <p:spPr>
          <a:xfrm>
            <a:off x="507987" y="2944912"/>
            <a:ext cx="5511662" cy="206375"/>
          </a:xfrm>
          <a:prstGeom prst="rect">
            <a:avLst/>
          </a:prstGeom>
          <a:noFill/>
          <a:ln/>
        </p:spPr>
        <p:txBody>
          <a:bodyPr wrap="none" lIns="0" tIns="0" rIns="0" bIns="0" rtlCol="0" anchor="t"/>
          <a:lstStyle/>
          <a:p>
            <a:pPr marL="0" indent="0" algn="l">
              <a:lnSpc>
                <a:spcPct val="104000"/>
              </a:lnSpc>
              <a:buNone/>
            </a:pPr>
            <a:r>
              <a:rPr lang="en-US" sz="1300" b="1" dirty="0">
                <a:solidFill>
                  <a:srgbClr val="0B1F3A"/>
                </a:solidFill>
                <a:latin typeface="Arimo Bold" pitchFamily="34" charset="0"/>
                <a:ea typeface="Arimo Bold" pitchFamily="34" charset="-122"/>
                <a:cs typeface="Arimo Bold" pitchFamily="34" charset="-120"/>
              </a:rPr>
              <a:t>Calculation method</a:t>
            </a:r>
            <a:endParaRPr lang="en-US" sz="1300" dirty="0"/>
          </a:p>
        </p:txBody>
      </p:sp>
      <p:sp>
        <p:nvSpPr>
          <p:cNvPr id="16" name="Text 14"/>
          <p:cNvSpPr/>
          <p:nvPr/>
        </p:nvSpPr>
        <p:spPr>
          <a:xfrm>
            <a:off x="507987" y="3252093"/>
            <a:ext cx="5511662" cy="495300"/>
          </a:xfrm>
          <a:prstGeom prst="rect">
            <a:avLst/>
          </a:prstGeom>
          <a:noFill/>
          <a:ln/>
        </p:spPr>
        <p:txBody>
          <a:bodyPr wrap="square" lIns="0" tIns="0" rIns="0" bIns="0" rtlCol="0" anchor="t">
            <a:normAutofit/>
          </a:bodyPr>
          <a:lstStyle/>
          <a:p>
            <a:pPr marL="0" indent="0" algn="l">
              <a:lnSpc>
                <a:spcPct val="108000"/>
              </a:lnSpc>
              <a:buNone/>
            </a:pPr>
            <a:r>
              <a:rPr lang="en-US" sz="1500" dirty="0">
                <a:solidFill>
                  <a:srgbClr val="2B2F36"/>
                </a:solidFill>
                <a:latin typeface="Arimo" pitchFamily="34" charset="0"/>
                <a:ea typeface="Arimo" pitchFamily="34" charset="-122"/>
                <a:cs typeface="Arimo" pitchFamily="34" charset="-120"/>
              </a:rPr>
              <a:t>Total mentoring expenditure divided by additional results observed.</a:t>
            </a:r>
            <a:endParaRPr lang="en-US" sz="1500" dirty="0"/>
          </a:p>
        </p:txBody>
      </p:sp>
      <p:sp>
        <p:nvSpPr>
          <p:cNvPr id="17" name="Shape 15"/>
          <p:cNvSpPr/>
          <p:nvPr/>
        </p:nvSpPr>
        <p:spPr>
          <a:xfrm>
            <a:off x="6172046" y="2799655"/>
            <a:ext cx="5511662" cy="38100"/>
          </a:xfrm>
          <a:prstGeom prst="rect">
            <a:avLst/>
          </a:prstGeom>
          <a:solidFill>
            <a:srgbClr val="0B1F3A"/>
          </a:solidFill>
          <a:ln/>
        </p:spPr>
        <p:txBody>
          <a:bodyPr/>
          <a:lstStyle/>
          <a:p>
            <a:endParaRPr lang="en-US"/>
          </a:p>
        </p:txBody>
      </p:sp>
      <p:sp>
        <p:nvSpPr>
          <p:cNvPr id="18" name="Text 16"/>
          <p:cNvSpPr/>
          <p:nvPr/>
        </p:nvSpPr>
        <p:spPr>
          <a:xfrm>
            <a:off x="6172046" y="2944912"/>
            <a:ext cx="5511662" cy="206375"/>
          </a:xfrm>
          <a:prstGeom prst="rect">
            <a:avLst/>
          </a:prstGeom>
          <a:noFill/>
          <a:ln/>
        </p:spPr>
        <p:txBody>
          <a:bodyPr wrap="none" lIns="0" tIns="0" rIns="0" bIns="0" rtlCol="0" anchor="t"/>
          <a:lstStyle/>
          <a:p>
            <a:pPr marL="0" indent="0" algn="l">
              <a:lnSpc>
                <a:spcPct val="104000"/>
              </a:lnSpc>
              <a:buNone/>
            </a:pPr>
            <a:r>
              <a:rPr lang="en-US" sz="1300" b="1" dirty="0">
                <a:solidFill>
                  <a:srgbClr val="0B1F3A"/>
                </a:solidFill>
                <a:latin typeface="Arimo Bold" pitchFamily="34" charset="0"/>
                <a:ea typeface="Arimo Bold" pitchFamily="34" charset="-122"/>
                <a:cs typeface="Arimo Bold" pitchFamily="34" charset="-120"/>
              </a:rPr>
              <a:t>Cost-effectiveness vs ROI</a:t>
            </a:r>
            <a:endParaRPr lang="en-US" sz="1300" dirty="0"/>
          </a:p>
        </p:txBody>
      </p:sp>
      <p:sp>
        <p:nvSpPr>
          <p:cNvPr id="19" name="Text 17"/>
          <p:cNvSpPr/>
          <p:nvPr/>
        </p:nvSpPr>
        <p:spPr>
          <a:xfrm>
            <a:off x="6172046" y="3252093"/>
            <a:ext cx="5511662" cy="742950"/>
          </a:xfrm>
          <a:prstGeom prst="rect">
            <a:avLst/>
          </a:prstGeom>
          <a:noFill/>
          <a:ln/>
        </p:spPr>
        <p:txBody>
          <a:bodyPr wrap="square" lIns="0" tIns="0" rIns="0" bIns="0" rtlCol="0" anchor="t">
            <a:normAutofit/>
          </a:bodyPr>
          <a:lstStyle/>
          <a:p>
            <a:pPr marL="0" indent="0" algn="l">
              <a:lnSpc>
                <a:spcPct val="108000"/>
              </a:lnSpc>
              <a:buNone/>
            </a:pPr>
            <a:r>
              <a:rPr lang="en-US" sz="1500" dirty="0">
                <a:solidFill>
                  <a:srgbClr val="2B2F36"/>
                </a:solidFill>
                <a:latin typeface="Arimo" pitchFamily="34" charset="0"/>
                <a:ea typeface="Arimo" pitchFamily="34" charset="-122"/>
                <a:cs typeface="Arimo" pitchFamily="34" charset="-120"/>
              </a:rPr>
              <a:t>These are cost-effectiveness measures, not commercial revenue, profit, return on investment (ROI), or break-even returns.</a:t>
            </a:r>
            <a:endParaRPr lang="en-US" sz="1500" dirty="0"/>
          </a:p>
        </p:txBody>
      </p:sp>
      <p:sp>
        <p:nvSpPr>
          <p:cNvPr id="20" name="Shape 18"/>
          <p:cNvSpPr/>
          <p:nvPr/>
        </p:nvSpPr>
        <p:spPr>
          <a:xfrm>
            <a:off x="507987" y="4218880"/>
            <a:ext cx="5511662" cy="1236960"/>
          </a:xfrm>
          <a:prstGeom prst="rect">
            <a:avLst/>
          </a:prstGeom>
          <a:noFill/>
          <a:ln w="6350">
            <a:solidFill>
              <a:srgbClr val="D5DAE0"/>
            </a:solidFill>
            <a:prstDash val="solid"/>
          </a:ln>
          <a:effectLst>
            <a:outerShdw blurRad="30480" dist="11430" dir="5400000" algn="bl" rotWithShape="0">
              <a:srgbClr val="0B1F3A">
                <a:alpha val="1000"/>
              </a:srgbClr>
            </a:outerShdw>
          </a:effectLst>
        </p:spPr>
        <p:txBody>
          <a:bodyPr/>
          <a:lstStyle/>
          <a:p>
            <a:endParaRPr lang="en-US"/>
          </a:p>
        </p:txBody>
      </p:sp>
      <p:sp>
        <p:nvSpPr>
          <p:cNvPr id="21" name="Text 19"/>
          <p:cNvSpPr/>
          <p:nvPr/>
        </p:nvSpPr>
        <p:spPr>
          <a:xfrm>
            <a:off x="692133" y="4352230"/>
            <a:ext cx="5327517" cy="144760"/>
          </a:xfrm>
          <a:prstGeom prst="rect">
            <a:avLst/>
          </a:prstGeom>
          <a:noFill/>
          <a:ln/>
        </p:spPr>
        <p:txBody>
          <a:bodyPr wrap="none" lIns="0" tIns="0" rIns="0" bIns="0" rtlCol="0" anchor="t"/>
          <a:lstStyle/>
          <a:p>
            <a:pPr marL="0" indent="0" algn="l">
              <a:lnSpc>
                <a:spcPct val="100000"/>
              </a:lnSpc>
              <a:buNone/>
            </a:pPr>
            <a:r>
              <a:rPr lang="en-US" sz="950" b="1" kern="100" spc="76" dirty="0">
                <a:solidFill>
                  <a:srgbClr val="5B6573"/>
                </a:solidFill>
                <a:latin typeface="Arimo Bold" pitchFamily="34" charset="0"/>
                <a:ea typeface="Arimo Bold" pitchFamily="34" charset="-122"/>
                <a:cs typeface="Arimo Bold" pitchFamily="34" charset="-120"/>
              </a:rPr>
              <a:t>RESOURCING SCOPE QUESTION</a:t>
            </a:r>
            <a:endParaRPr lang="en-US" sz="950" dirty="0"/>
          </a:p>
        </p:txBody>
      </p:sp>
      <p:sp>
        <p:nvSpPr>
          <p:cNvPr id="22" name="Text 20"/>
          <p:cNvSpPr/>
          <p:nvPr/>
        </p:nvSpPr>
        <p:spPr>
          <a:xfrm>
            <a:off x="692133" y="4584303"/>
            <a:ext cx="5143371" cy="742950"/>
          </a:xfrm>
          <a:prstGeom prst="rect">
            <a:avLst/>
          </a:prstGeom>
          <a:noFill/>
          <a:ln/>
        </p:spPr>
        <p:txBody>
          <a:bodyPr wrap="square" lIns="0" tIns="0" rIns="0" bIns="0" rtlCol="0" anchor="t">
            <a:normAutofit/>
          </a:bodyPr>
          <a:lstStyle/>
          <a:p>
            <a:pPr marL="0" indent="0" algn="l">
              <a:lnSpc>
                <a:spcPct val="108000"/>
              </a:lnSpc>
              <a:buNone/>
            </a:pPr>
            <a:r>
              <a:rPr lang="en-US" sz="1500" dirty="0">
                <a:solidFill>
                  <a:srgbClr val="2B2F36"/>
                </a:solidFill>
                <a:latin typeface="Arimo" pitchFamily="34" charset="0"/>
                <a:ea typeface="Arimo" pitchFamily="34" charset="-122"/>
                <a:cs typeface="Arimo" pitchFamily="34" charset="-120"/>
              </a:rPr>
              <a:t>Confirm whether mentor recruitment, vetting, training, coordination, and central administration are fully absorbed within the assumed AUD4,000 per-program charge.</a:t>
            </a:r>
            <a:endParaRPr lang="en-US" sz="1500" dirty="0"/>
          </a:p>
        </p:txBody>
      </p:sp>
      <p:sp>
        <p:nvSpPr>
          <p:cNvPr id="23" name="Shape 21"/>
          <p:cNvSpPr/>
          <p:nvPr/>
        </p:nvSpPr>
        <p:spPr>
          <a:xfrm>
            <a:off x="6172046" y="4218880"/>
            <a:ext cx="5511662" cy="1236960"/>
          </a:xfrm>
          <a:prstGeom prst="rect">
            <a:avLst/>
          </a:prstGeom>
          <a:solidFill>
            <a:srgbClr val="F2F4F6"/>
          </a:solidFill>
          <a:ln/>
        </p:spPr>
        <p:txBody>
          <a:bodyPr/>
          <a:lstStyle/>
          <a:p>
            <a:endParaRPr lang="en-US"/>
          </a:p>
        </p:txBody>
      </p:sp>
      <p:sp>
        <p:nvSpPr>
          <p:cNvPr id="24" name="Shape 22"/>
          <p:cNvSpPr/>
          <p:nvPr/>
        </p:nvSpPr>
        <p:spPr>
          <a:xfrm>
            <a:off x="6172046" y="4218880"/>
            <a:ext cx="38099" cy="1236960"/>
          </a:xfrm>
          <a:prstGeom prst="rect">
            <a:avLst/>
          </a:prstGeom>
          <a:solidFill>
            <a:srgbClr val="C0102F"/>
          </a:solidFill>
          <a:ln/>
        </p:spPr>
        <p:txBody>
          <a:bodyPr/>
          <a:lstStyle/>
          <a:p>
            <a:endParaRPr lang="en-US"/>
          </a:p>
        </p:txBody>
      </p:sp>
      <p:sp>
        <p:nvSpPr>
          <p:cNvPr id="25" name="Text 23"/>
          <p:cNvSpPr/>
          <p:nvPr/>
        </p:nvSpPr>
        <p:spPr>
          <a:xfrm>
            <a:off x="6387940" y="4350643"/>
            <a:ext cx="5117972" cy="742950"/>
          </a:xfrm>
          <a:prstGeom prst="rect">
            <a:avLst/>
          </a:prstGeom>
          <a:noFill/>
          <a:ln/>
        </p:spPr>
        <p:txBody>
          <a:bodyPr wrap="square" lIns="0" tIns="0" rIns="0" bIns="0" rtlCol="0" anchor="t">
            <a:normAutofit/>
          </a:bodyPr>
          <a:lstStyle/>
          <a:p>
            <a:pPr marL="0" indent="0" algn="l">
              <a:lnSpc>
                <a:spcPct val="108000"/>
              </a:lnSpc>
              <a:buNone/>
            </a:pPr>
            <a:r>
              <a:rPr lang="en-US" sz="1500" b="1" dirty="0">
                <a:solidFill>
                  <a:srgbClr val="2B2F36"/>
                </a:solidFill>
                <a:latin typeface="Arimo Bold" pitchFamily="34" charset="0"/>
                <a:ea typeface="Arimo Bold" pitchFamily="34" charset="-122"/>
                <a:cs typeface="Arimo Bold" pitchFamily="34" charset="-120"/>
              </a:rPr>
              <a:t>Unverified:</a:t>
            </a:r>
            <a:r>
              <a:rPr lang="en-US" sz="1500" dirty="0">
                <a:solidFill>
                  <a:srgbClr val="2B2F36"/>
                </a:solidFill>
                <a:latin typeface="Arimo" pitchFamily="34" charset="0"/>
                <a:ea typeface="Arimo" pitchFamily="34" charset="-122"/>
                <a:cs typeface="Arimo" pitchFamily="34" charset="-120"/>
              </a:rPr>
              <a:t> the full cost breakdown and the incremental renewal contribution. Any renewal benefit is a potential benefit requiring evidence.</a:t>
            </a:r>
            <a:endParaRPr lang="en-US" sz="1500" dirty="0"/>
          </a:p>
        </p:txBody>
      </p:sp>
      <p:sp>
        <p:nvSpPr>
          <p:cNvPr id="27" name="Shape 25"/>
          <p:cNvSpPr/>
          <p:nvPr/>
        </p:nvSpPr>
        <p:spPr>
          <a:xfrm>
            <a:off x="4226811" y="1656755"/>
            <a:ext cx="12700" cy="990501"/>
          </a:xfrm>
          <a:prstGeom prst="rect">
            <a:avLst/>
          </a:prstGeom>
          <a:solidFill>
            <a:srgbClr val="D5DAE0"/>
          </a:solidFill>
          <a:ln/>
        </p:spPr>
        <p:txBody>
          <a:bodyPr/>
          <a:lstStyle/>
          <a:p>
            <a:endParaRPr lang="en-US"/>
          </a:p>
        </p:txBody>
      </p:sp>
      <p:sp>
        <p:nvSpPr>
          <p:cNvPr id="28" name="Shape 26"/>
          <p:cNvSpPr/>
          <p:nvPr/>
        </p:nvSpPr>
        <p:spPr>
          <a:xfrm>
            <a:off x="7952085" y="1656755"/>
            <a:ext cx="12700" cy="990501"/>
          </a:xfrm>
          <a:prstGeom prst="rect">
            <a:avLst/>
          </a:prstGeom>
          <a:solidFill>
            <a:srgbClr val="D5DAE0"/>
          </a:solidFill>
          <a:ln/>
        </p:spPr>
        <p:txBody>
          <a:bodyPr/>
          <a:lstStyle/>
          <a:p>
            <a:endParaRPr lang="en-US"/>
          </a:p>
        </p:txBody>
      </p:sp>
      <p:sp>
        <p:nvSpPr>
          <p:cNvPr id="30" name="Text 28"/>
          <p:cNvSpPr/>
          <p:nvPr/>
        </p:nvSpPr>
        <p:spPr>
          <a:xfrm>
            <a:off x="11620209" y="6555085"/>
            <a:ext cx="571486" cy="148530"/>
          </a:xfrm>
          <a:prstGeom prst="rect">
            <a:avLst/>
          </a:prstGeom>
          <a:noFill/>
          <a:ln/>
        </p:spPr>
        <p:txBody>
          <a:bodyPr wrap="none" lIns="0" tIns="0" rIns="0" bIns="0" rtlCol="0" anchor="ctr"/>
          <a:lstStyle/>
          <a:p>
            <a:pPr marL="0" indent="0" algn="l">
              <a:lnSpc>
                <a:spcPct val="108000"/>
              </a:lnSpc>
              <a:buNone/>
            </a:pPr>
            <a:r>
              <a:rPr lang="en-US" sz="900" dirty="0">
                <a:solidFill>
                  <a:srgbClr val="2B2F36"/>
                </a:solidFill>
                <a:latin typeface="Arimo" pitchFamily="34" charset="0"/>
                <a:ea typeface="Arimo" pitchFamily="34" charset="-122"/>
                <a:cs typeface="Arimo"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07987" y="508000"/>
            <a:ext cx="11683708" cy="144760"/>
          </a:xfrm>
          <a:prstGeom prst="rect">
            <a:avLst/>
          </a:prstGeom>
          <a:noFill/>
          <a:ln/>
        </p:spPr>
        <p:txBody>
          <a:bodyPr wrap="none" lIns="0" tIns="0" rIns="0" bIns="0" rtlCol="0" anchor="t"/>
          <a:lstStyle/>
          <a:p>
            <a:pPr marL="0" indent="0" algn="l">
              <a:lnSpc>
                <a:spcPct val="100000"/>
              </a:lnSpc>
              <a:buNone/>
            </a:pPr>
            <a:r>
              <a:rPr lang="en-US" sz="950" b="1" kern="100" spc="76" dirty="0">
                <a:solidFill>
                  <a:srgbClr val="5B6573"/>
                </a:solidFill>
                <a:latin typeface="Arimo Bold" pitchFamily="34" charset="0"/>
                <a:ea typeface="Arimo Bold" pitchFamily="34" charset="-122"/>
                <a:cs typeface="Arimo Bold" pitchFamily="34" charset="-120"/>
              </a:rPr>
              <a:t>GOVERNANCE FRAMEWORK &amp; STAGED COMMITMENTS</a:t>
            </a:r>
            <a:endParaRPr lang="en-US" sz="950" dirty="0"/>
          </a:p>
        </p:txBody>
      </p:sp>
      <p:sp>
        <p:nvSpPr>
          <p:cNvPr id="3" name="Text 1"/>
          <p:cNvSpPr/>
          <p:nvPr/>
        </p:nvSpPr>
        <p:spPr>
          <a:xfrm>
            <a:off x="507987" y="715879"/>
            <a:ext cx="11175720" cy="398264"/>
          </a:xfrm>
          <a:prstGeom prst="rect">
            <a:avLst/>
          </a:prstGeom>
          <a:noFill/>
          <a:ln/>
        </p:spPr>
        <p:txBody>
          <a:bodyPr wrap="none" lIns="0" tIns="0" rIns="0" bIns="0" rtlCol="0" anchor="t"/>
          <a:lstStyle/>
          <a:p>
            <a:pPr marL="0" indent="0" algn="l">
              <a:lnSpc>
                <a:spcPct val="93000"/>
              </a:lnSpc>
              <a:buNone/>
            </a:pPr>
            <a:r>
              <a:rPr lang="en-US" sz="2800" b="1" kern="100" spc="-14" dirty="0">
                <a:solidFill>
                  <a:srgbClr val="0B1F3A"/>
                </a:solidFill>
                <a:latin typeface="Arimo Bold" pitchFamily="34" charset="0"/>
                <a:ea typeface="Arimo Bold" pitchFamily="34" charset="-122"/>
                <a:cs typeface="Arimo Bold" pitchFamily="34" charset="-120"/>
              </a:rPr>
              <a:t>Next steps: fund only against explicit decision conditions</a:t>
            </a:r>
            <a:endParaRPr lang="en-US" sz="2800" dirty="0"/>
          </a:p>
        </p:txBody>
      </p:sp>
      <p:sp>
        <p:nvSpPr>
          <p:cNvPr id="4" name="Shape 2"/>
          <p:cNvSpPr/>
          <p:nvPr/>
        </p:nvSpPr>
        <p:spPr>
          <a:xfrm>
            <a:off x="507987" y="1289149"/>
            <a:ext cx="11175621" cy="19050"/>
          </a:xfrm>
          <a:prstGeom prst="roundRect">
            <a:avLst>
              <a:gd name="adj" fmla="val 49999"/>
            </a:avLst>
          </a:prstGeom>
          <a:solidFill>
            <a:srgbClr val="D5DAE0"/>
          </a:solidFill>
          <a:ln/>
        </p:spPr>
        <p:txBody>
          <a:bodyPr/>
          <a:lstStyle/>
          <a:p>
            <a:endParaRPr lang="en-US"/>
          </a:p>
        </p:txBody>
      </p:sp>
      <p:sp>
        <p:nvSpPr>
          <p:cNvPr id="5" name="Text 3"/>
          <p:cNvSpPr/>
          <p:nvPr/>
        </p:nvSpPr>
        <p:spPr>
          <a:xfrm>
            <a:off x="507987" y="1476474"/>
            <a:ext cx="11175720" cy="1427361"/>
          </a:xfrm>
          <a:prstGeom prst="rect">
            <a:avLst/>
          </a:prstGeom>
          <a:noFill/>
          <a:ln/>
        </p:spPr>
        <p:txBody>
          <a:bodyPr wrap="square" lIns="0" tIns="0" rIns="0" bIns="0" rtlCol="0" anchor="t">
            <a:normAutofit/>
          </a:bodyPr>
          <a:lstStyle/>
          <a:p>
            <a:pPr marL="264160" indent="-264160" algn="l">
              <a:lnSpc>
                <a:spcPct val="108000"/>
              </a:lnSpc>
              <a:buSzPct val="100000"/>
              <a:buFont typeface="+mj-lt"/>
              <a:buAutoNum type="arabicPeriod"/>
            </a:pPr>
            <a:r>
              <a:rPr lang="en-US" sz="1300" b="1" dirty="0">
                <a:solidFill>
                  <a:srgbClr val="2B2F36"/>
                </a:solidFill>
                <a:latin typeface="Arimo Bold" pitchFamily="34" charset="0"/>
                <a:ea typeface="Arimo Bold" pitchFamily="34" charset="-122"/>
                <a:cs typeface="Arimo Bold" pitchFamily="34" charset="-120"/>
              </a:rPr>
              <a:t>Program lead:</a:t>
            </a:r>
            <a:r>
              <a:rPr lang="en-US" sz="1300" dirty="0">
                <a:solidFill>
                  <a:srgbClr val="2B2F36"/>
                </a:solidFill>
                <a:latin typeface="Arimo" pitchFamily="34" charset="0"/>
                <a:ea typeface="Arimo" pitchFamily="34" charset="-122"/>
                <a:cs typeface="Arimo" pitchFamily="34" charset="-120"/>
              </a:rPr>
              <a:t> Diagnose barriers. Propose programs with suitable barriers.</a:t>
            </a:r>
            <a:endParaRPr lang="en-US" sz="1300" dirty="0"/>
          </a:p>
          <a:p>
            <a:pPr marL="264160" indent="-264160" algn="l">
              <a:lnSpc>
                <a:spcPct val="108000"/>
              </a:lnSpc>
              <a:buSzPct val="100000"/>
              <a:buFont typeface="+mj-lt"/>
              <a:buAutoNum type="arabicPeriod" startAt="2"/>
            </a:pPr>
            <a:r>
              <a:rPr lang="en-US" sz="1300" b="1" dirty="0">
                <a:solidFill>
                  <a:srgbClr val="2B2F36"/>
                </a:solidFill>
                <a:latin typeface="Arimo Bold" pitchFamily="34" charset="0"/>
                <a:ea typeface="Arimo Bold" pitchFamily="34" charset="-122"/>
                <a:cs typeface="Arimo Bold" pitchFamily="34" charset="-120"/>
              </a:rPr>
              <a:t>Evaluation lead:</a:t>
            </a:r>
            <a:r>
              <a:rPr lang="en-US" sz="1300" dirty="0">
                <a:solidFill>
                  <a:srgbClr val="2B2F36"/>
                </a:solidFill>
                <a:latin typeface="Arimo" pitchFamily="34" charset="0"/>
                <a:ea typeface="Arimo" pitchFamily="34" charset="-122"/>
                <a:cs typeface="Arimo" pitchFamily="34" charset="-120"/>
              </a:rPr>
              <a:t> Confirm outcome, follow-up and assignment. Predefine the primary metric and review criteria. Where feasible, randomise programs and retain a comparison group.</a:t>
            </a:r>
            <a:endParaRPr lang="en-US" sz="1300" dirty="0"/>
          </a:p>
          <a:p>
            <a:pPr marL="264160" indent="-264160" algn="l">
              <a:lnSpc>
                <a:spcPct val="108000"/>
              </a:lnSpc>
              <a:buSzPct val="100000"/>
              <a:buFont typeface="+mj-lt"/>
              <a:buAutoNum type="arabicPeriod" startAt="3"/>
            </a:pPr>
            <a:r>
              <a:rPr lang="en-US" sz="1300" b="1" dirty="0">
                <a:solidFill>
                  <a:srgbClr val="2B2F36"/>
                </a:solidFill>
                <a:latin typeface="Arimo Bold" pitchFamily="34" charset="0"/>
                <a:ea typeface="Arimo Bold" pitchFamily="34" charset="-122"/>
                <a:cs typeface="Arimo Bold" pitchFamily="34" charset="-120"/>
              </a:rPr>
              <a:t>Finance and funders:</a:t>
            </a:r>
            <a:r>
              <a:rPr lang="en-US" sz="1300" dirty="0">
                <a:solidFill>
                  <a:srgbClr val="2B2F36"/>
                </a:solidFill>
                <a:latin typeface="Arimo" pitchFamily="34" charset="0"/>
                <a:ea typeface="Arimo" pitchFamily="34" charset="-122"/>
                <a:cs typeface="Arimo" pitchFamily="34" charset="-120"/>
              </a:rPr>
              <a:t> Confirm full costs. Agree an acceptable cost per additional outcome.</a:t>
            </a:r>
            <a:endParaRPr lang="en-US" sz="1300" dirty="0"/>
          </a:p>
          <a:p>
            <a:pPr marL="264160" indent="-264160" algn="l">
              <a:lnSpc>
                <a:spcPct val="108000"/>
              </a:lnSpc>
              <a:buSzPct val="100000"/>
              <a:buFont typeface="+mj-lt"/>
              <a:buAutoNum type="arabicPeriod" startAt="4"/>
            </a:pPr>
            <a:r>
              <a:rPr lang="en-US" sz="1300" b="1" dirty="0">
                <a:solidFill>
                  <a:srgbClr val="2B2F36"/>
                </a:solidFill>
                <a:latin typeface="Arimo Bold" pitchFamily="34" charset="0"/>
                <a:ea typeface="Arimo Bold" pitchFamily="34" charset="-122"/>
                <a:cs typeface="Arimo Bold" pitchFamily="34" charset="-120"/>
              </a:rPr>
              <a:t>Delivery lead:</a:t>
            </a:r>
            <a:r>
              <a:rPr lang="en-US" sz="1300" dirty="0">
                <a:solidFill>
                  <a:srgbClr val="2B2F36"/>
                </a:solidFill>
                <a:latin typeface="Arimo" pitchFamily="34" charset="0"/>
                <a:ea typeface="Arimo" pitchFamily="34" charset="-122"/>
                <a:cs typeface="Arimo" pitchFamily="34" charset="-120"/>
              </a:rPr>
              <a:t> Confirm mentor capacity, quality and full resourcing.</a:t>
            </a:r>
            <a:endParaRPr lang="en-US" sz="1300" dirty="0"/>
          </a:p>
          <a:p>
            <a:pPr marL="264160" indent="-264160" algn="l">
              <a:lnSpc>
                <a:spcPct val="108000"/>
              </a:lnSpc>
              <a:buSzPct val="100000"/>
              <a:buFont typeface="+mj-lt"/>
              <a:buAutoNum type="arabicPeriod" startAt="5"/>
            </a:pPr>
            <a:r>
              <a:rPr lang="en-US" sz="1300" b="1" dirty="0">
                <a:solidFill>
                  <a:srgbClr val="2B2F36"/>
                </a:solidFill>
                <a:latin typeface="Arimo Bold" pitchFamily="34" charset="0"/>
                <a:ea typeface="Arimo Bold" pitchFamily="34" charset="-122"/>
                <a:cs typeface="Arimo Bold" pitchFamily="34" charset="-120"/>
              </a:rPr>
              <a:t>Leadership:</a:t>
            </a:r>
            <a:r>
              <a:rPr lang="en-US" sz="1300" dirty="0">
                <a:solidFill>
                  <a:srgbClr val="2B2F36"/>
                </a:solidFill>
                <a:latin typeface="Arimo" pitchFamily="34" charset="0"/>
                <a:ea typeface="Arimo" pitchFamily="34" charset="-122"/>
                <a:cs typeface="Arimo" pitchFamily="34" charset="-120"/>
              </a:rPr>
              <a:t> Approve a limited extension with a set budget and agreed criteria.</a:t>
            </a:r>
            <a:endParaRPr lang="en-US" sz="1300" dirty="0"/>
          </a:p>
        </p:txBody>
      </p:sp>
      <p:sp>
        <p:nvSpPr>
          <p:cNvPr id="6" name="Shape 4"/>
          <p:cNvSpPr/>
          <p:nvPr/>
        </p:nvSpPr>
        <p:spPr>
          <a:xfrm>
            <a:off x="507987" y="3081635"/>
            <a:ext cx="11175720" cy="965200"/>
          </a:xfrm>
          <a:prstGeom prst="rect">
            <a:avLst/>
          </a:prstGeom>
          <a:solidFill>
            <a:srgbClr val="F2F4F6"/>
          </a:solidFill>
          <a:ln/>
        </p:spPr>
        <p:txBody>
          <a:bodyPr/>
          <a:lstStyle/>
          <a:p>
            <a:endParaRPr lang="en-US"/>
          </a:p>
        </p:txBody>
      </p:sp>
      <p:sp>
        <p:nvSpPr>
          <p:cNvPr id="7" name="Shape 5"/>
          <p:cNvSpPr/>
          <p:nvPr/>
        </p:nvSpPr>
        <p:spPr>
          <a:xfrm>
            <a:off x="507987" y="3081635"/>
            <a:ext cx="38099" cy="965200"/>
          </a:xfrm>
          <a:prstGeom prst="rect">
            <a:avLst/>
          </a:prstGeom>
          <a:solidFill>
            <a:srgbClr val="C0102F"/>
          </a:solidFill>
          <a:ln/>
        </p:spPr>
        <p:txBody>
          <a:bodyPr/>
          <a:lstStyle/>
          <a:p>
            <a:endParaRPr lang="en-US"/>
          </a:p>
        </p:txBody>
      </p:sp>
      <p:sp>
        <p:nvSpPr>
          <p:cNvPr id="8" name="Text 6"/>
          <p:cNvSpPr/>
          <p:nvPr/>
        </p:nvSpPr>
        <p:spPr>
          <a:xfrm>
            <a:off x="774681" y="3237210"/>
            <a:ext cx="10680433" cy="660400"/>
          </a:xfrm>
          <a:prstGeom prst="rect">
            <a:avLst/>
          </a:prstGeom>
          <a:noFill/>
          <a:ln/>
        </p:spPr>
        <p:txBody>
          <a:bodyPr wrap="square" lIns="0" tIns="0" rIns="0" bIns="0" rtlCol="0" anchor="t">
            <a:normAutofit/>
          </a:bodyPr>
          <a:lstStyle/>
          <a:p>
            <a:pPr marL="0" indent="0" algn="l">
              <a:lnSpc>
                <a:spcPct val="108000"/>
              </a:lnSpc>
              <a:buNone/>
            </a:pPr>
            <a:r>
              <a:rPr lang="en-US" sz="2000" b="1" dirty="0">
                <a:solidFill>
                  <a:srgbClr val="2B2F36"/>
                </a:solidFill>
                <a:latin typeface="Arimo Bold" pitchFamily="34" charset="0"/>
                <a:ea typeface="Arimo Bold" pitchFamily="34" charset="-122"/>
                <a:cs typeface="Arimo Bold" pitchFamily="34" charset="-120"/>
              </a:rPr>
              <a:t>Pause if:</a:t>
            </a:r>
            <a:r>
              <a:rPr lang="en-US" sz="2000" dirty="0">
                <a:solidFill>
                  <a:srgbClr val="2B2F36"/>
                </a:solidFill>
                <a:latin typeface="Arimo" pitchFamily="34" charset="0"/>
                <a:ea typeface="Arimo" pitchFamily="34" charset="-122"/>
                <a:cs typeface="Arimo" pitchFamily="34" charset="-120"/>
              </a:rPr>
              <a:t> results are inconclusive, agreed criteria are unmet, costs overrun, or delivery quality slips.</a:t>
            </a:r>
            <a:endParaRPr lang="en-US" sz="2000" dirty="0"/>
          </a:p>
        </p:txBody>
      </p:sp>
      <p:sp>
        <p:nvSpPr>
          <p:cNvPr id="11" name="Text 9"/>
          <p:cNvSpPr/>
          <p:nvPr/>
        </p:nvSpPr>
        <p:spPr>
          <a:xfrm>
            <a:off x="10575181" y="6568069"/>
            <a:ext cx="571486" cy="148530"/>
          </a:xfrm>
          <a:prstGeom prst="rect">
            <a:avLst/>
          </a:prstGeom>
          <a:noFill/>
          <a:ln/>
        </p:spPr>
        <p:txBody>
          <a:bodyPr wrap="none" lIns="0" tIns="0" rIns="0" bIns="0" rtlCol="0" anchor="ctr"/>
          <a:lstStyle/>
          <a:p>
            <a:pPr marL="0" indent="0" algn="l">
              <a:lnSpc>
                <a:spcPct val="108000"/>
              </a:lnSpc>
              <a:buNone/>
            </a:pPr>
            <a:r>
              <a:rPr lang="en-US" sz="900" dirty="0">
                <a:solidFill>
                  <a:srgbClr val="2B2F36"/>
                </a:solidFill>
                <a:latin typeface="Arimo" pitchFamily="34" charset="0"/>
                <a:ea typeface="Arimo" pitchFamily="34" charset="-122"/>
                <a:cs typeface="Arimo" pitchFamily="34" charset="-120"/>
              </a:rPr>
              <a:t>7</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67</TotalTime>
  <Words>1339</Words>
  <Application>Microsoft Macintosh PowerPoint</Application>
  <PresentationFormat>Widescreen</PresentationFormat>
  <Paragraphs>131</Paragraphs>
  <Slides>7</Slides>
  <Notes>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vt:i4>
      </vt:variant>
    </vt:vector>
  </HeadingPairs>
  <TitlesOfParts>
    <vt:vector size="12" baseType="lpstr">
      <vt:lpstr>Arial</vt:lpstr>
      <vt:lpstr>Arimo Bold</vt:lpstr>
      <vt:lpstr>Archivo Narrow</vt:lpstr>
      <vt:lpstr>Arimo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Milind Koak</cp:lastModifiedBy>
  <cp:revision>2</cp:revision>
  <dcterms:created xsi:type="dcterms:W3CDTF">2026-10-16T03:46:25Z</dcterms:created>
  <dcterms:modified xsi:type="dcterms:W3CDTF">2026-10-16T05:54:50Z</dcterms:modified>
</cp:coreProperties>
</file>